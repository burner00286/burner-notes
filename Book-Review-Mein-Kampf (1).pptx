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DM Sans" panose="020F0502020204030204" pitchFamily="2" charset="0"/>
      <p:regular r:id="rId11"/>
    </p:embeddedFont>
    <p:embeddedFont>
      <p:font typeface="PT Serif" panose="020F0502020204030204" pitchFamily="18"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0000"/>
    <a:srgbClr val="FFFFF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01"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2737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8363514" y="1483024"/>
            <a:ext cx="6053376"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Book Review: Mein Kampf</a:t>
            </a:r>
            <a:endParaRPr lang="en-US" sz="4100" dirty="0"/>
          </a:p>
        </p:txBody>
      </p:sp>
      <p:sp>
        <p:nvSpPr>
          <p:cNvPr id="4" name="Text 1"/>
          <p:cNvSpPr/>
          <p:nvPr/>
        </p:nvSpPr>
        <p:spPr>
          <a:xfrm>
            <a:off x="8363514" y="2290713"/>
            <a:ext cx="5473097" cy="2457262"/>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A comprehensive critical analysis of Adolf Hitler’s</a:t>
            </a:r>
          </a:p>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 controversial political manifesto </a:t>
            </a:r>
            <a:endParaRPr lang="en-US" sz="1550" dirty="0"/>
          </a:p>
        </p:txBody>
      </p:sp>
      <p:sp>
        <p:nvSpPr>
          <p:cNvPr id="5" name="Rectangle 4">
            <a:extLst>
              <a:ext uri="{FF2B5EF4-FFF2-40B4-BE49-F238E27FC236}">
                <a16:creationId xmlns:a16="http://schemas.microsoft.com/office/drawing/2014/main" id="{9CE34A98-2B89-3041-168C-0FAB966CB990}"/>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00F86B11-BBE3-DE2D-187D-649007D49150}"/>
              </a:ext>
            </a:extLst>
          </p:cNvPr>
          <p:cNvPicPr>
            <a:picLocks noChangeAspect="1"/>
          </p:cNvPicPr>
          <p:nvPr/>
        </p:nvPicPr>
        <p:blipFill>
          <a:blip r:embed="rId3"/>
          <a:stretch>
            <a:fillRect/>
          </a:stretch>
        </p:blipFill>
        <p:spPr>
          <a:xfrm>
            <a:off x="0" y="0"/>
            <a:ext cx="82296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75930" y="578168"/>
            <a:ext cx="9681805" cy="636508"/>
          </a:xfrm>
          <a:prstGeom prst="rect">
            <a:avLst/>
          </a:prstGeom>
          <a:noFill/>
          <a:ln/>
        </p:spPr>
        <p:txBody>
          <a:bodyPr wrap="none" lIns="0" tIns="0" rIns="0" bIns="0" rtlCol="0" anchor="t"/>
          <a:lstStyle/>
          <a:p>
            <a:pPr marL="0" indent="0" algn="l">
              <a:lnSpc>
                <a:spcPts val="5000"/>
              </a:lnSpc>
              <a:buNone/>
            </a:pPr>
            <a:r>
              <a:rPr lang="en-US" sz="4000" dirty="0">
                <a:solidFill>
                  <a:srgbClr val="020202"/>
                </a:solidFill>
                <a:latin typeface="PT Serif" pitchFamily="34" charset="0"/>
                <a:ea typeface="PT Serif" pitchFamily="34" charset="-122"/>
                <a:cs typeface="PT Serif" pitchFamily="34" charset="-120"/>
              </a:rPr>
              <a:t>Literary Assessment: Form Over Substance</a:t>
            </a:r>
            <a:endParaRPr lang="en-US" sz="4000" dirty="0"/>
          </a:p>
        </p:txBody>
      </p:sp>
      <p:sp>
        <p:nvSpPr>
          <p:cNvPr id="3" name="Text 1"/>
          <p:cNvSpPr/>
          <p:nvPr/>
        </p:nvSpPr>
        <p:spPr>
          <a:xfrm>
            <a:off x="775930" y="1669613"/>
            <a:ext cx="7657862" cy="1533525"/>
          </a:xfrm>
          <a:prstGeom prst="rect">
            <a:avLst/>
          </a:prstGeom>
          <a:noFill/>
          <a:ln/>
        </p:spPr>
        <p:txBody>
          <a:bodyPr wrap="squar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From a literary perspective, </a:t>
            </a:r>
            <a:r>
              <a:rPr lang="en-US" sz="1500" i="1" dirty="0">
                <a:solidFill>
                  <a:srgbClr val="383838"/>
                </a:solidFill>
                <a:latin typeface="DM Sans" pitchFamily="34" charset="0"/>
                <a:ea typeface="DM Sans" pitchFamily="34" charset="-122"/>
                <a:cs typeface="DM Sans" pitchFamily="34" charset="-120"/>
              </a:rPr>
              <a:t>Mein Kampf</a:t>
            </a:r>
            <a:r>
              <a:rPr lang="en-US" sz="1500" dirty="0">
                <a:solidFill>
                  <a:srgbClr val="383838"/>
                </a:solidFill>
                <a:latin typeface="DM Sans" pitchFamily="34" charset="0"/>
                <a:ea typeface="DM Sans" pitchFamily="34" charset="-122"/>
                <a:cs typeface="DM Sans" pitchFamily="34" charset="-120"/>
              </a:rPr>
              <a:t> is not considered a well-written book by conventional standards. The work lacks the refined narrative structure, elegant prose, and coherent organisation that characterise respected literary works. Instead, it reads more as a collection of political rants and ideological assertions stitched together without editorial polish.</a:t>
            </a:r>
            <a:endParaRPr lang="en-US" sz="1500" dirty="0"/>
          </a:p>
        </p:txBody>
      </p:sp>
      <p:sp>
        <p:nvSpPr>
          <p:cNvPr id="4" name="Text 2"/>
          <p:cNvSpPr/>
          <p:nvPr/>
        </p:nvSpPr>
        <p:spPr>
          <a:xfrm>
            <a:off x="775930" y="3373755"/>
            <a:ext cx="7657862" cy="1533525"/>
          </a:xfrm>
          <a:prstGeom prst="rect">
            <a:avLst/>
          </a:prstGeom>
          <a:noFill/>
          <a:ln/>
        </p:spPr>
        <p:txBody>
          <a:bodyPr wrap="squar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Many readers find the text difficult to engage with due to several distinctive characteristics of Hitler's writing style. The prose is characterised by lengthy, convoluted sentences that often lose their thread before reaching completion. Hitler frequently embarks on tangential political arguments that diverge from his main point, creating a disjointed reading experience.</a:t>
            </a:r>
            <a:endParaRPr lang="en-US" sz="1500" dirty="0"/>
          </a:p>
        </p:txBody>
      </p:sp>
      <p:sp>
        <p:nvSpPr>
          <p:cNvPr id="5" name="Shape 3"/>
          <p:cNvSpPr/>
          <p:nvPr/>
        </p:nvSpPr>
        <p:spPr>
          <a:xfrm>
            <a:off x="8774906" y="1498997"/>
            <a:ext cx="5226844" cy="3578900"/>
          </a:xfrm>
          <a:prstGeom prst="roundRect">
            <a:avLst>
              <a:gd name="adj" fmla="val 813"/>
            </a:avLst>
          </a:prstGeom>
          <a:solidFill>
            <a:srgbClr val="DD0000"/>
          </a:solidFill>
          <a:ln/>
        </p:spPr>
      </p:sp>
      <p:sp>
        <p:nvSpPr>
          <p:cNvPr id="6" name="Text 4"/>
          <p:cNvSpPr/>
          <p:nvPr/>
        </p:nvSpPr>
        <p:spPr>
          <a:xfrm>
            <a:off x="8968859" y="1688544"/>
            <a:ext cx="2546033" cy="318135"/>
          </a:xfrm>
          <a:prstGeom prst="rect">
            <a:avLst/>
          </a:prstGeom>
          <a:noFill/>
          <a:ln/>
        </p:spPr>
        <p:txBody>
          <a:bodyPr wrap="none" lIns="0" tIns="0" rIns="0" bIns="0" rtlCol="0" anchor="t"/>
          <a:lstStyle/>
          <a:p>
            <a:pPr marL="0" indent="0" algn="l">
              <a:lnSpc>
                <a:spcPts val="2500"/>
              </a:lnSpc>
              <a:buNone/>
            </a:pPr>
            <a:r>
              <a:rPr lang="en-US" sz="2000" dirty="0">
                <a:solidFill>
                  <a:srgbClr val="020202"/>
                </a:solidFill>
                <a:latin typeface="PT Serif" pitchFamily="34" charset="0"/>
                <a:ea typeface="PT Serif" pitchFamily="34" charset="-122"/>
                <a:cs typeface="PT Serif" pitchFamily="34" charset="-120"/>
              </a:rPr>
              <a:t>Key Literary Flaws</a:t>
            </a:r>
            <a:endParaRPr lang="en-US" sz="2000" dirty="0"/>
          </a:p>
        </p:txBody>
      </p:sp>
      <p:sp>
        <p:nvSpPr>
          <p:cNvPr id="7" name="Text 5"/>
          <p:cNvSpPr/>
          <p:nvPr/>
        </p:nvSpPr>
        <p:spPr>
          <a:xfrm>
            <a:off x="8968859" y="2196227"/>
            <a:ext cx="4838938" cy="1425773"/>
          </a:xfrm>
          <a:prstGeom prst="rect">
            <a:avLst/>
          </a:prstGeom>
          <a:noFill/>
          <a:ln/>
        </p:spPr>
        <p:txBody>
          <a:bodyPr wrap="square" lIns="0" tIns="0" rIns="0" bIns="0" rtlCol="0" anchor="t"/>
          <a:lstStyle/>
          <a:p>
            <a:pPr marL="342900" indent="-342900" algn="l">
              <a:lnSpc>
                <a:spcPts val="2400"/>
              </a:lnSpc>
              <a:buSzPct val="100000"/>
              <a:buChar char="•"/>
            </a:pPr>
            <a:r>
              <a:rPr lang="en-US" sz="1500" dirty="0">
                <a:solidFill>
                  <a:srgbClr val="000000"/>
                </a:solidFill>
                <a:latin typeface="DM Sans" pitchFamily="34" charset="0"/>
                <a:ea typeface="DM Sans" pitchFamily="34" charset="-122"/>
                <a:cs typeface="DM Sans" pitchFamily="34" charset="-120"/>
              </a:rPr>
              <a:t>Repetitive arguments</a:t>
            </a:r>
            <a:endParaRPr lang="en-US" sz="1500" dirty="0"/>
          </a:p>
          <a:p>
            <a:pPr marL="342900" indent="-342900" algn="l">
              <a:lnSpc>
                <a:spcPts val="2400"/>
              </a:lnSpc>
              <a:buSzPct val="100000"/>
              <a:buChar char="•"/>
            </a:pPr>
            <a:r>
              <a:rPr lang="en-US" sz="1500" dirty="0">
                <a:solidFill>
                  <a:srgbClr val="000000"/>
                </a:solidFill>
                <a:latin typeface="DM Sans" pitchFamily="34" charset="0"/>
                <a:ea typeface="DM Sans" pitchFamily="34" charset="-122"/>
                <a:cs typeface="DM Sans" pitchFamily="34" charset="-120"/>
              </a:rPr>
              <a:t>Disorganised structure</a:t>
            </a:r>
            <a:endParaRPr lang="en-US" sz="1500" dirty="0"/>
          </a:p>
          <a:p>
            <a:pPr marL="342900" indent="-342900" algn="l">
              <a:lnSpc>
                <a:spcPts val="2400"/>
              </a:lnSpc>
              <a:buSzPct val="100000"/>
              <a:buChar char="•"/>
            </a:pPr>
            <a:r>
              <a:rPr lang="en-US" sz="1500" dirty="0">
                <a:solidFill>
                  <a:srgbClr val="000000"/>
                </a:solidFill>
                <a:latin typeface="DM Sans" pitchFamily="34" charset="0"/>
                <a:ea typeface="DM Sans" pitchFamily="34" charset="-122"/>
                <a:cs typeface="DM Sans" pitchFamily="34" charset="-120"/>
              </a:rPr>
              <a:t>Long, convoluted sentences</a:t>
            </a:r>
            <a:endParaRPr lang="en-US" sz="1500" dirty="0"/>
          </a:p>
          <a:p>
            <a:pPr marL="342900" indent="-342900" algn="l">
              <a:lnSpc>
                <a:spcPts val="2400"/>
              </a:lnSpc>
              <a:buSzPct val="100000"/>
              <a:buChar char="•"/>
            </a:pPr>
            <a:r>
              <a:rPr lang="en-US" sz="1500" dirty="0">
                <a:solidFill>
                  <a:srgbClr val="000000"/>
                </a:solidFill>
                <a:latin typeface="DM Sans" pitchFamily="34" charset="0"/>
                <a:ea typeface="DM Sans" pitchFamily="34" charset="-122"/>
                <a:cs typeface="DM Sans" pitchFamily="34" charset="-120"/>
              </a:rPr>
              <a:t>Lack of editorial refinement</a:t>
            </a:r>
            <a:endParaRPr lang="en-US" sz="1500" dirty="0"/>
          </a:p>
        </p:txBody>
      </p:sp>
      <p:sp>
        <p:nvSpPr>
          <p:cNvPr id="8" name="Text 6"/>
          <p:cNvSpPr/>
          <p:nvPr/>
        </p:nvSpPr>
        <p:spPr>
          <a:xfrm>
            <a:off x="775930" y="5291138"/>
            <a:ext cx="13078539" cy="920115"/>
          </a:xfrm>
          <a:prstGeom prst="rect">
            <a:avLst/>
          </a:prstGeom>
          <a:noFill/>
          <a:ln/>
        </p:spPr>
        <p:txBody>
          <a:bodyPr wrap="squar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Furthermore, Hitler's tendency to repeat his core ideas and grievances throughout the text creates a monotonous quality that many readers find exhausting. The work frequently circles back to the same themes—German nationalism, anti-Semitism, and conspiracy theories—without adding new insight or perspective with each repetition.</a:t>
            </a:r>
            <a:endParaRPr lang="en-US" sz="1500" dirty="0"/>
          </a:p>
        </p:txBody>
      </p:sp>
      <p:sp>
        <p:nvSpPr>
          <p:cNvPr id="9" name="Text 7"/>
          <p:cNvSpPr/>
          <p:nvPr/>
        </p:nvSpPr>
        <p:spPr>
          <a:xfrm>
            <a:off x="775930" y="6424493"/>
            <a:ext cx="13078539" cy="1226820"/>
          </a:xfrm>
          <a:prstGeom prst="rect">
            <a:avLst/>
          </a:prstGeom>
          <a:noFill/>
          <a:ln/>
        </p:spPr>
        <p:txBody>
          <a:bodyPr wrap="squar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However, the importance of </a:t>
            </a:r>
            <a:r>
              <a:rPr lang="en-US" sz="1500" i="1" dirty="0">
                <a:solidFill>
                  <a:srgbClr val="383838"/>
                </a:solidFill>
                <a:latin typeface="DM Sans" pitchFamily="34" charset="0"/>
                <a:ea typeface="DM Sans" pitchFamily="34" charset="-122"/>
                <a:cs typeface="DM Sans" pitchFamily="34" charset="-120"/>
              </a:rPr>
              <a:t>Mein Kampf</a:t>
            </a:r>
            <a:r>
              <a:rPr lang="en-US" sz="1500" dirty="0">
                <a:solidFill>
                  <a:srgbClr val="383838"/>
                </a:solidFill>
                <a:latin typeface="DM Sans" pitchFamily="34" charset="0"/>
                <a:ea typeface="DM Sans" pitchFamily="34" charset="-122"/>
                <a:cs typeface="DM Sans" pitchFamily="34" charset="-120"/>
              </a:rPr>
              <a:t> transcends its literary deficiencies. The book's historical significance lies not in its quality as a work of literature, but in its role as a political document that foreshadowed catastrophic events. Understanding its literary shortcomings actually helps explain why Hitler later emphasised visual and oral propaganda over written communication—recognising that emotional appeals and simple messages were more effective than complex written arguments.</a:t>
            </a:r>
            <a:endParaRPr lang="en-US" sz="1500" dirty="0"/>
          </a:p>
        </p:txBody>
      </p:sp>
      <p:sp>
        <p:nvSpPr>
          <p:cNvPr id="11" name="Rectangle 10">
            <a:extLst>
              <a:ext uri="{FF2B5EF4-FFF2-40B4-BE49-F238E27FC236}">
                <a16:creationId xmlns:a16="http://schemas.microsoft.com/office/drawing/2014/main" id="{09DBDA36-1BBF-58B6-0251-1DEEA21EE8EB}"/>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09732" y="797719"/>
            <a:ext cx="5847278" cy="582216"/>
          </a:xfrm>
          <a:prstGeom prst="rect">
            <a:avLst/>
          </a:prstGeom>
          <a:noFill/>
          <a:ln/>
        </p:spPr>
        <p:txBody>
          <a:bodyPr wrap="none" lIns="0" tIns="0" rIns="0" bIns="0" rtlCol="0" anchor="t"/>
          <a:lstStyle/>
          <a:p>
            <a:pPr marL="0" indent="0" algn="l">
              <a:lnSpc>
                <a:spcPts val="4550"/>
              </a:lnSpc>
              <a:buNone/>
            </a:pPr>
            <a:r>
              <a:rPr lang="en-US" sz="3650" dirty="0">
                <a:solidFill>
                  <a:srgbClr val="020202"/>
                </a:solidFill>
                <a:latin typeface="PT Serif" pitchFamily="34" charset="0"/>
                <a:ea typeface="PT Serif" pitchFamily="34" charset="-122"/>
                <a:cs typeface="PT Serif" pitchFamily="34" charset="-120"/>
              </a:rPr>
              <a:t>Book Overview: My Struggle</a:t>
            </a:r>
            <a:endParaRPr lang="en-US" sz="3650" dirty="0"/>
          </a:p>
        </p:txBody>
      </p:sp>
      <p:sp>
        <p:nvSpPr>
          <p:cNvPr id="3" name="Shape 1"/>
          <p:cNvSpPr/>
          <p:nvPr/>
        </p:nvSpPr>
        <p:spPr>
          <a:xfrm>
            <a:off x="709732" y="1697117"/>
            <a:ext cx="4297918" cy="1009769"/>
          </a:xfrm>
          <a:prstGeom prst="roundRect">
            <a:avLst>
              <a:gd name="adj" fmla="val 2636"/>
            </a:avLst>
          </a:prstGeom>
          <a:solidFill>
            <a:srgbClr val="F2EEEE"/>
          </a:solidFill>
          <a:ln/>
        </p:spPr>
      </p:sp>
      <p:sp>
        <p:nvSpPr>
          <p:cNvPr id="4" name="Text 2"/>
          <p:cNvSpPr/>
          <p:nvPr/>
        </p:nvSpPr>
        <p:spPr>
          <a:xfrm>
            <a:off x="887135" y="1874520"/>
            <a:ext cx="2328863" cy="291108"/>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T Serif" pitchFamily="34" charset="0"/>
                <a:ea typeface="PT Serif" pitchFamily="34" charset="-122"/>
                <a:cs typeface="PT Serif" pitchFamily="34" charset="-120"/>
              </a:rPr>
              <a:t>Author</a:t>
            </a:r>
            <a:endParaRPr lang="en-US" sz="1800" dirty="0"/>
          </a:p>
        </p:txBody>
      </p:sp>
      <p:sp>
        <p:nvSpPr>
          <p:cNvPr id="5" name="Text 3"/>
          <p:cNvSpPr/>
          <p:nvPr/>
        </p:nvSpPr>
        <p:spPr>
          <a:xfrm>
            <a:off x="887135" y="2260759"/>
            <a:ext cx="3943112" cy="268724"/>
          </a:xfrm>
          <a:prstGeom prst="rect">
            <a:avLst/>
          </a:prstGeom>
          <a:noFill/>
          <a:ln/>
        </p:spPr>
        <p:txBody>
          <a:bodyPr wrap="non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Adolf Hitler</a:t>
            </a:r>
            <a:endParaRPr lang="en-US" sz="1350" dirty="0"/>
          </a:p>
        </p:txBody>
      </p:sp>
      <p:sp>
        <p:nvSpPr>
          <p:cNvPr id="6" name="Shape 4"/>
          <p:cNvSpPr/>
          <p:nvPr/>
        </p:nvSpPr>
        <p:spPr>
          <a:xfrm>
            <a:off x="5166241" y="1697117"/>
            <a:ext cx="4297918" cy="1009769"/>
          </a:xfrm>
          <a:prstGeom prst="roundRect">
            <a:avLst>
              <a:gd name="adj" fmla="val 2636"/>
            </a:avLst>
          </a:prstGeom>
          <a:solidFill>
            <a:srgbClr val="F2EEEE"/>
          </a:solidFill>
          <a:ln/>
        </p:spPr>
      </p:sp>
      <p:sp>
        <p:nvSpPr>
          <p:cNvPr id="7" name="Text 5"/>
          <p:cNvSpPr/>
          <p:nvPr/>
        </p:nvSpPr>
        <p:spPr>
          <a:xfrm>
            <a:off x="5343644" y="1874520"/>
            <a:ext cx="2328863" cy="291108"/>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T Serif" pitchFamily="34" charset="0"/>
                <a:ea typeface="PT Serif" pitchFamily="34" charset="-122"/>
                <a:cs typeface="PT Serif" pitchFamily="34" charset="-120"/>
              </a:rPr>
              <a:t>Publication Year</a:t>
            </a:r>
            <a:endParaRPr lang="en-US" sz="1800" dirty="0"/>
          </a:p>
        </p:txBody>
      </p:sp>
      <p:sp>
        <p:nvSpPr>
          <p:cNvPr id="8" name="Text 6"/>
          <p:cNvSpPr/>
          <p:nvPr/>
        </p:nvSpPr>
        <p:spPr>
          <a:xfrm>
            <a:off x="5343644" y="2260759"/>
            <a:ext cx="3943112" cy="268724"/>
          </a:xfrm>
          <a:prstGeom prst="rect">
            <a:avLst/>
          </a:prstGeom>
          <a:noFill/>
          <a:ln/>
        </p:spPr>
        <p:txBody>
          <a:bodyPr wrap="non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1924-1925</a:t>
            </a:r>
            <a:endParaRPr lang="en-US" sz="1350" dirty="0"/>
          </a:p>
        </p:txBody>
      </p:sp>
      <p:sp>
        <p:nvSpPr>
          <p:cNvPr id="9" name="Shape 7"/>
          <p:cNvSpPr/>
          <p:nvPr/>
        </p:nvSpPr>
        <p:spPr>
          <a:xfrm>
            <a:off x="9622750" y="1697117"/>
            <a:ext cx="4297918" cy="1009769"/>
          </a:xfrm>
          <a:prstGeom prst="roundRect">
            <a:avLst>
              <a:gd name="adj" fmla="val 2636"/>
            </a:avLst>
          </a:prstGeom>
          <a:solidFill>
            <a:srgbClr val="F2EEEE"/>
          </a:solidFill>
          <a:ln/>
        </p:spPr>
      </p:sp>
      <p:sp>
        <p:nvSpPr>
          <p:cNvPr id="10" name="Text 8"/>
          <p:cNvSpPr/>
          <p:nvPr/>
        </p:nvSpPr>
        <p:spPr>
          <a:xfrm>
            <a:off x="9800153" y="1874520"/>
            <a:ext cx="2328863" cy="291108"/>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T Serif" pitchFamily="34" charset="0"/>
                <a:ea typeface="PT Serif" pitchFamily="34" charset="-122"/>
                <a:cs typeface="PT Serif" pitchFamily="34" charset="-120"/>
              </a:rPr>
              <a:t>Original Language</a:t>
            </a:r>
            <a:endParaRPr lang="en-US" sz="1800" dirty="0"/>
          </a:p>
        </p:txBody>
      </p:sp>
      <p:sp>
        <p:nvSpPr>
          <p:cNvPr id="11" name="Text 9"/>
          <p:cNvSpPr/>
          <p:nvPr/>
        </p:nvSpPr>
        <p:spPr>
          <a:xfrm>
            <a:off x="9800153" y="2260759"/>
            <a:ext cx="3943112" cy="268724"/>
          </a:xfrm>
          <a:prstGeom prst="rect">
            <a:avLst/>
          </a:prstGeom>
          <a:noFill/>
          <a:ln/>
        </p:spPr>
        <p:txBody>
          <a:bodyPr wrap="non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German</a:t>
            </a:r>
            <a:endParaRPr lang="en-US" sz="1350" dirty="0"/>
          </a:p>
        </p:txBody>
      </p:sp>
      <p:sp>
        <p:nvSpPr>
          <p:cNvPr id="12" name="Text 10"/>
          <p:cNvSpPr/>
          <p:nvPr/>
        </p:nvSpPr>
        <p:spPr>
          <a:xfrm>
            <a:off x="709732" y="2885242"/>
            <a:ext cx="13210937" cy="806172"/>
          </a:xfrm>
          <a:prstGeom prst="rect">
            <a:avLst/>
          </a:prstGeom>
          <a:noFill/>
          <a:ln/>
        </p:spPr>
        <p:txBody>
          <a:bodyPr wrap="square" lIns="0" tIns="0" rIns="0" bIns="0" rtlCol="0" anchor="t"/>
          <a:lstStyle/>
          <a:p>
            <a:pPr marL="0" indent="0" algn="l">
              <a:lnSpc>
                <a:spcPts val="2100"/>
              </a:lnSpc>
              <a:buNone/>
            </a:pPr>
            <a:r>
              <a:rPr lang="en-US" sz="1350" i="1" dirty="0">
                <a:solidFill>
                  <a:srgbClr val="383838"/>
                </a:solidFill>
                <a:latin typeface="DM Sans" pitchFamily="34" charset="0"/>
                <a:ea typeface="DM Sans" pitchFamily="34" charset="-122"/>
                <a:cs typeface="DM Sans" pitchFamily="34" charset="-120"/>
              </a:rPr>
              <a:t>Mein Kampf</a:t>
            </a:r>
            <a:r>
              <a:rPr lang="en-US" sz="1350" dirty="0">
                <a:solidFill>
                  <a:srgbClr val="383838"/>
                </a:solidFill>
                <a:latin typeface="DM Sans" pitchFamily="34" charset="0"/>
                <a:ea typeface="DM Sans" pitchFamily="34" charset="-122"/>
                <a:cs typeface="DM Sans" pitchFamily="34" charset="-120"/>
              </a:rPr>
              <a:t>, written by Adolf Hitler during his imprisonment in 1924, stands as one of the most controversial and historically significant political texts ever published. The title translates literally to "My Struggle," and the work represents a hybrid genre that blends autobiography with political theory and ideological propaganda.</a:t>
            </a:r>
            <a:endParaRPr lang="en-US" sz="1350" dirty="0"/>
          </a:p>
        </p:txBody>
      </p:sp>
      <p:sp>
        <p:nvSpPr>
          <p:cNvPr id="13" name="Text 11"/>
          <p:cNvSpPr/>
          <p:nvPr/>
        </p:nvSpPr>
        <p:spPr>
          <a:xfrm>
            <a:off x="709732" y="3869769"/>
            <a:ext cx="13210937" cy="806172"/>
          </a:xfrm>
          <a:prstGeom prst="rect">
            <a:avLst/>
          </a:prstGeom>
          <a:noFill/>
          <a:ln/>
        </p:spPr>
        <p:txBody>
          <a:bodyPr wrap="squar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The book provides crucial insight into Hitler's formative years, his evolving political philosophy, and the ideological framework that would later shape Nazi Germany and precipitate World War II. It documents the development of his worldview, from his childhood experiences through his time in Vienna and Munich, culminating in his radicalisation during and after World War I.</a:t>
            </a:r>
            <a:endParaRPr lang="en-US" sz="1350" dirty="0"/>
          </a:p>
        </p:txBody>
      </p:sp>
      <p:sp>
        <p:nvSpPr>
          <p:cNvPr id="14" name="Text 12"/>
          <p:cNvSpPr/>
          <p:nvPr/>
        </p:nvSpPr>
        <p:spPr>
          <a:xfrm>
            <a:off x="709732" y="4854297"/>
            <a:ext cx="13210937" cy="537448"/>
          </a:xfrm>
          <a:prstGeom prst="rect">
            <a:avLst/>
          </a:prstGeom>
          <a:noFill/>
          <a:ln/>
        </p:spPr>
        <p:txBody>
          <a:bodyPr wrap="squar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The work is divided into two distinct volumes, each serving a different purpose in Hitler's ideological framework. This structural division reflects the dual nature of the text as both personal narrative and political manifesto.</a:t>
            </a:r>
            <a:endParaRPr lang="en-US" sz="1350" dirty="0"/>
          </a:p>
        </p:txBody>
      </p:sp>
      <p:sp>
        <p:nvSpPr>
          <p:cNvPr id="15" name="Shape 13"/>
          <p:cNvSpPr/>
          <p:nvPr/>
        </p:nvSpPr>
        <p:spPr>
          <a:xfrm>
            <a:off x="709732" y="5570101"/>
            <a:ext cx="6526173" cy="1861661"/>
          </a:xfrm>
          <a:prstGeom prst="roundRect">
            <a:avLst>
              <a:gd name="adj" fmla="val 5894"/>
            </a:avLst>
          </a:prstGeom>
          <a:solidFill>
            <a:srgbClr val="FFFFFF"/>
          </a:solidFill>
          <a:ln w="22860">
            <a:solidFill>
              <a:srgbClr val="D8D4D4"/>
            </a:solidFill>
            <a:prstDash val="solid"/>
          </a:ln>
        </p:spPr>
      </p:sp>
      <p:sp>
        <p:nvSpPr>
          <p:cNvPr id="16" name="Shape 14"/>
          <p:cNvSpPr/>
          <p:nvPr/>
        </p:nvSpPr>
        <p:spPr>
          <a:xfrm>
            <a:off x="686872" y="5570101"/>
            <a:ext cx="91440" cy="1861661"/>
          </a:xfrm>
          <a:prstGeom prst="roundRect">
            <a:avLst>
              <a:gd name="adj" fmla="val 29108"/>
            </a:avLst>
          </a:prstGeom>
          <a:solidFill>
            <a:srgbClr val="E04F00"/>
          </a:solidFill>
          <a:ln/>
        </p:spPr>
      </p:sp>
      <p:sp>
        <p:nvSpPr>
          <p:cNvPr id="17" name="Text 15"/>
          <p:cNvSpPr/>
          <p:nvPr/>
        </p:nvSpPr>
        <p:spPr>
          <a:xfrm>
            <a:off x="978575" y="5770364"/>
            <a:ext cx="4906328" cy="291108"/>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T Serif" pitchFamily="34" charset="0"/>
                <a:ea typeface="PT Serif" pitchFamily="34" charset="-122"/>
                <a:cs typeface="PT Serif" pitchFamily="34" charset="-120"/>
              </a:rPr>
              <a:t>Volume One: The Autobiographical Foundation</a:t>
            </a:r>
            <a:endParaRPr lang="en-US" sz="1800" dirty="0"/>
          </a:p>
        </p:txBody>
      </p:sp>
      <p:sp>
        <p:nvSpPr>
          <p:cNvPr id="18" name="Text 16"/>
          <p:cNvSpPr/>
          <p:nvPr/>
        </p:nvSpPr>
        <p:spPr>
          <a:xfrm>
            <a:off x="978575" y="6156603"/>
            <a:ext cx="6057067" cy="1074896"/>
          </a:xfrm>
          <a:prstGeom prst="rect">
            <a:avLst/>
          </a:prstGeom>
          <a:noFill/>
          <a:ln/>
        </p:spPr>
        <p:txBody>
          <a:bodyPr wrap="squar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The first volume establishes Hitler's personal narrative, detailing his childhood, formative experiences in Vienna, and time in Munich. It traces the development of his political consciousness, particularly his emergence of German nationalist sentiment and anti-Semitic beliefs.</a:t>
            </a:r>
            <a:endParaRPr lang="en-US" sz="1350" dirty="0"/>
          </a:p>
        </p:txBody>
      </p:sp>
      <p:sp>
        <p:nvSpPr>
          <p:cNvPr id="19" name="Shape 17"/>
          <p:cNvSpPr/>
          <p:nvPr/>
        </p:nvSpPr>
        <p:spPr>
          <a:xfrm>
            <a:off x="7394496" y="5570101"/>
            <a:ext cx="6526173" cy="1861661"/>
          </a:xfrm>
          <a:prstGeom prst="roundRect">
            <a:avLst>
              <a:gd name="adj" fmla="val 5894"/>
            </a:avLst>
          </a:prstGeom>
          <a:solidFill>
            <a:srgbClr val="DD0000"/>
          </a:solidFill>
          <a:ln w="22860">
            <a:solidFill>
              <a:srgbClr val="D8D4D4"/>
            </a:solidFill>
            <a:prstDash val="solid"/>
          </a:ln>
        </p:spPr>
      </p:sp>
      <p:sp>
        <p:nvSpPr>
          <p:cNvPr id="20" name="Shape 18"/>
          <p:cNvSpPr/>
          <p:nvPr/>
        </p:nvSpPr>
        <p:spPr>
          <a:xfrm>
            <a:off x="7371636" y="5570101"/>
            <a:ext cx="91440" cy="1861661"/>
          </a:xfrm>
          <a:prstGeom prst="roundRect">
            <a:avLst>
              <a:gd name="adj" fmla="val 29108"/>
            </a:avLst>
          </a:prstGeom>
          <a:solidFill>
            <a:srgbClr val="E04F00"/>
          </a:solidFill>
          <a:ln/>
        </p:spPr>
      </p:sp>
      <p:sp>
        <p:nvSpPr>
          <p:cNvPr id="21" name="Text 19"/>
          <p:cNvSpPr/>
          <p:nvPr/>
        </p:nvSpPr>
        <p:spPr>
          <a:xfrm>
            <a:off x="7663339" y="5770364"/>
            <a:ext cx="3441502" cy="291108"/>
          </a:xfrm>
          <a:prstGeom prst="rect">
            <a:avLst/>
          </a:prstGeom>
          <a:noFill/>
          <a:ln/>
        </p:spPr>
        <p:txBody>
          <a:bodyPr wrap="none" lIns="0" tIns="0" rIns="0" bIns="0" rtlCol="0" anchor="t"/>
          <a:lstStyle/>
          <a:p>
            <a:pPr marL="0" indent="0" algn="l">
              <a:lnSpc>
                <a:spcPts val="2250"/>
              </a:lnSpc>
              <a:buNone/>
            </a:pPr>
            <a:r>
              <a:rPr lang="en-US" sz="1800" dirty="0">
                <a:solidFill>
                  <a:srgbClr val="383838"/>
                </a:solidFill>
                <a:latin typeface="PT Serif" pitchFamily="34" charset="0"/>
                <a:ea typeface="PT Serif" pitchFamily="34" charset="-122"/>
                <a:cs typeface="PT Serif" pitchFamily="34" charset="-120"/>
              </a:rPr>
              <a:t>Volume Two: The Political Vision</a:t>
            </a:r>
            <a:endParaRPr lang="en-US" sz="1800" dirty="0"/>
          </a:p>
        </p:txBody>
      </p:sp>
      <p:sp>
        <p:nvSpPr>
          <p:cNvPr id="22" name="Text 20"/>
          <p:cNvSpPr/>
          <p:nvPr/>
        </p:nvSpPr>
        <p:spPr>
          <a:xfrm>
            <a:off x="7663339" y="6156603"/>
            <a:ext cx="6057067" cy="1074896"/>
          </a:xfrm>
          <a:prstGeom prst="rect">
            <a:avLst/>
          </a:prstGeom>
          <a:noFill/>
          <a:ln/>
        </p:spPr>
        <p:txBody>
          <a:bodyPr wrap="square" lIns="0" tIns="0" rIns="0" bIns="0" rtlCol="0" anchor="t"/>
          <a:lstStyle/>
          <a:p>
            <a:pPr marL="0" indent="0" algn="l">
              <a:lnSpc>
                <a:spcPts val="2100"/>
              </a:lnSpc>
              <a:buNone/>
            </a:pPr>
            <a:r>
              <a:rPr lang="en-US" sz="1350" dirty="0">
                <a:solidFill>
                  <a:srgbClr val="383838"/>
                </a:solidFill>
                <a:latin typeface="DM Sans" pitchFamily="34" charset="0"/>
                <a:ea typeface="DM Sans" pitchFamily="34" charset="-122"/>
                <a:cs typeface="DM Sans" pitchFamily="34" charset="-120"/>
              </a:rPr>
              <a:t>The second volume transitions from personal history to comprehensive political ideology, presenting Hitler's blueprint for Germany's future. It articulates his theories on propaganda, leadership, state structure, and expansionist policy.</a:t>
            </a:r>
            <a:endParaRPr lang="en-US" sz="1350" dirty="0"/>
          </a:p>
        </p:txBody>
      </p:sp>
      <p:sp>
        <p:nvSpPr>
          <p:cNvPr id="24" name="Rectangle 23">
            <a:extLst>
              <a:ext uri="{FF2B5EF4-FFF2-40B4-BE49-F238E27FC236}">
                <a16:creationId xmlns:a16="http://schemas.microsoft.com/office/drawing/2014/main" id="{9D8C689D-5117-2AB9-5626-407C420F83CA}"/>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938814" y="1305997"/>
            <a:ext cx="9082921" cy="447318"/>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Volume One: Personal History and Ideological Formation</a:t>
            </a:r>
            <a:endParaRPr lang="en-US" sz="2800" dirty="0"/>
          </a:p>
        </p:txBody>
      </p:sp>
      <p:sp>
        <p:nvSpPr>
          <p:cNvPr id="3" name="Text 1"/>
          <p:cNvSpPr/>
          <p:nvPr/>
        </p:nvSpPr>
        <p:spPr>
          <a:xfrm>
            <a:off x="1938814" y="1940600"/>
            <a:ext cx="10752653" cy="367903"/>
          </a:xfrm>
          <a:prstGeom prst="rect">
            <a:avLst/>
          </a:prstGeom>
          <a:noFill/>
          <a:ln/>
        </p:spPr>
        <p:txBody>
          <a:bodyPr wrap="square" lIns="0" tIns="0" rIns="0" bIns="0" rtlCol="0" anchor="t"/>
          <a:lstStyle/>
          <a:p>
            <a:pPr marL="0" indent="0" algn="l">
              <a:lnSpc>
                <a:spcPts val="1400"/>
              </a:lnSpc>
              <a:buNone/>
            </a:pPr>
            <a:r>
              <a:rPr lang="en-US" sz="1050" dirty="0">
                <a:solidFill>
                  <a:srgbClr val="383838"/>
                </a:solidFill>
                <a:latin typeface="DM Sans" pitchFamily="34" charset="0"/>
                <a:ea typeface="DM Sans" pitchFamily="34" charset="-122"/>
                <a:cs typeface="DM Sans" pitchFamily="34" charset="-120"/>
              </a:rPr>
              <a:t>The first volume of </a:t>
            </a:r>
            <a:r>
              <a:rPr lang="en-US" sz="1050" i="1" dirty="0">
                <a:solidFill>
                  <a:srgbClr val="383838"/>
                </a:solidFill>
                <a:latin typeface="DM Sans" pitchFamily="34" charset="0"/>
                <a:ea typeface="DM Sans" pitchFamily="34" charset="-122"/>
                <a:cs typeface="DM Sans" pitchFamily="34" charset="-120"/>
              </a:rPr>
              <a:t>Mein Kampf</a:t>
            </a:r>
            <a:r>
              <a:rPr lang="en-US" sz="1050" dirty="0">
                <a:solidFill>
                  <a:srgbClr val="383838"/>
                </a:solidFill>
                <a:latin typeface="DM Sans" pitchFamily="34" charset="0"/>
                <a:ea typeface="DM Sans" pitchFamily="34" charset="-122"/>
                <a:cs typeface="DM Sans" pitchFamily="34" charset="-120"/>
              </a:rPr>
              <a:t> serves primarily as an autobiographical account, though filtered through Hitler's ideological lens. He presents a selective narrative of his early life, emphasising experiences that he claims shaped his political awakening whilst downplaying or omitting other aspects of his biography.</a:t>
            </a:r>
            <a:endParaRPr lang="en-US" sz="1050" dirty="0"/>
          </a:p>
        </p:txBody>
      </p:sp>
      <p:sp>
        <p:nvSpPr>
          <p:cNvPr id="4" name="Shape 2"/>
          <p:cNvSpPr/>
          <p:nvPr/>
        </p:nvSpPr>
        <p:spPr>
          <a:xfrm>
            <a:off x="7307461" y="2413873"/>
            <a:ext cx="15240" cy="3195280"/>
          </a:xfrm>
          <a:prstGeom prst="roundRect">
            <a:avLst>
              <a:gd name="adj" fmla="val 134209"/>
            </a:avLst>
          </a:prstGeom>
          <a:solidFill>
            <a:srgbClr val="D8D4D4"/>
          </a:solidFill>
          <a:ln/>
        </p:spPr>
      </p:sp>
      <p:sp>
        <p:nvSpPr>
          <p:cNvPr id="5" name="Shape 3"/>
          <p:cNvSpPr/>
          <p:nvPr/>
        </p:nvSpPr>
        <p:spPr>
          <a:xfrm>
            <a:off x="6767989" y="2559606"/>
            <a:ext cx="408980" cy="15240"/>
          </a:xfrm>
          <a:prstGeom prst="roundRect">
            <a:avLst>
              <a:gd name="adj" fmla="val 134209"/>
            </a:avLst>
          </a:prstGeom>
          <a:solidFill>
            <a:srgbClr val="D8D4D4"/>
          </a:solidFill>
          <a:ln/>
        </p:spPr>
      </p:sp>
      <p:sp>
        <p:nvSpPr>
          <p:cNvPr id="6" name="Shape 4"/>
          <p:cNvSpPr/>
          <p:nvPr/>
        </p:nvSpPr>
        <p:spPr>
          <a:xfrm>
            <a:off x="7161728" y="2413873"/>
            <a:ext cx="306705" cy="306705"/>
          </a:xfrm>
          <a:prstGeom prst="roundRect">
            <a:avLst>
              <a:gd name="adj" fmla="val 6669"/>
            </a:avLst>
          </a:prstGeom>
          <a:solidFill>
            <a:srgbClr val="F2EEEE"/>
          </a:solidFill>
          <a:ln/>
        </p:spPr>
      </p:sp>
      <p:sp>
        <p:nvSpPr>
          <p:cNvPr id="7" name="Text 5"/>
          <p:cNvSpPr/>
          <p:nvPr/>
        </p:nvSpPr>
        <p:spPr>
          <a:xfrm>
            <a:off x="7207746" y="2433042"/>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383838"/>
                </a:solidFill>
                <a:latin typeface="PT Serif" pitchFamily="34" charset="0"/>
                <a:ea typeface="PT Serif" pitchFamily="34" charset="-122"/>
                <a:cs typeface="PT Serif" pitchFamily="34" charset="-120"/>
              </a:rPr>
              <a:t>1</a:t>
            </a:r>
            <a:endParaRPr lang="en-US" sz="1650" dirty="0"/>
          </a:p>
        </p:txBody>
      </p:sp>
      <p:sp>
        <p:nvSpPr>
          <p:cNvPr id="8" name="Text 6"/>
          <p:cNvSpPr/>
          <p:nvPr/>
        </p:nvSpPr>
        <p:spPr>
          <a:xfrm>
            <a:off x="4545568" y="2460665"/>
            <a:ext cx="2087761" cy="223599"/>
          </a:xfrm>
          <a:prstGeom prst="rect">
            <a:avLst/>
          </a:prstGeom>
          <a:noFill/>
          <a:ln/>
        </p:spPr>
        <p:txBody>
          <a:bodyPr wrap="none" lIns="0" tIns="0" rIns="0" bIns="0" rtlCol="0" anchor="t"/>
          <a:lstStyle/>
          <a:p>
            <a:pPr marL="0" indent="0" algn="r">
              <a:lnSpc>
                <a:spcPts val="1750"/>
              </a:lnSpc>
              <a:buNone/>
            </a:pPr>
            <a:r>
              <a:rPr lang="en-US" sz="1400" dirty="0">
                <a:solidFill>
                  <a:srgbClr val="383838"/>
                </a:solidFill>
                <a:latin typeface="PT Serif" pitchFamily="34" charset="0"/>
                <a:ea typeface="PT Serif" pitchFamily="34" charset="-122"/>
                <a:cs typeface="PT Serif" pitchFamily="34" charset="-120"/>
              </a:rPr>
              <a:t>Childhood and Early Years</a:t>
            </a:r>
            <a:endParaRPr lang="en-US" sz="1400" dirty="0"/>
          </a:p>
        </p:txBody>
      </p:sp>
      <p:sp>
        <p:nvSpPr>
          <p:cNvPr id="9" name="Text 7"/>
          <p:cNvSpPr/>
          <p:nvPr/>
        </p:nvSpPr>
        <p:spPr>
          <a:xfrm>
            <a:off x="1938814" y="2740462"/>
            <a:ext cx="4694515" cy="551855"/>
          </a:xfrm>
          <a:prstGeom prst="rect">
            <a:avLst/>
          </a:prstGeom>
          <a:noFill/>
          <a:ln/>
        </p:spPr>
        <p:txBody>
          <a:bodyPr wrap="square" lIns="0" tIns="0" rIns="0" bIns="0" rtlCol="0" anchor="t"/>
          <a:lstStyle/>
          <a:p>
            <a:pPr marL="0" indent="0" algn="r">
              <a:lnSpc>
                <a:spcPts val="1400"/>
              </a:lnSpc>
              <a:buNone/>
            </a:pPr>
            <a:r>
              <a:rPr lang="en-US" sz="1050" dirty="0">
                <a:solidFill>
                  <a:srgbClr val="383838"/>
                </a:solidFill>
                <a:latin typeface="DM Sans" pitchFamily="34" charset="0"/>
                <a:ea typeface="DM Sans" pitchFamily="34" charset="-122"/>
                <a:cs typeface="DM Sans" pitchFamily="34" charset="-120"/>
              </a:rPr>
              <a:t>Hitler describes his upbringing, presenting himself as a misunderstood youth with innate leadership qualities. He claims his early experiences revealed the corruption of existing political systems.</a:t>
            </a:r>
            <a:endParaRPr lang="en-US" sz="1050" dirty="0"/>
          </a:p>
        </p:txBody>
      </p:sp>
      <p:sp>
        <p:nvSpPr>
          <p:cNvPr id="10" name="Shape 8"/>
          <p:cNvSpPr/>
          <p:nvPr/>
        </p:nvSpPr>
        <p:spPr>
          <a:xfrm>
            <a:off x="7453193" y="3292316"/>
            <a:ext cx="408980" cy="15240"/>
          </a:xfrm>
          <a:prstGeom prst="roundRect">
            <a:avLst>
              <a:gd name="adj" fmla="val 134209"/>
            </a:avLst>
          </a:prstGeom>
          <a:solidFill>
            <a:srgbClr val="D8D4D4"/>
          </a:solidFill>
          <a:ln/>
        </p:spPr>
      </p:sp>
      <p:sp>
        <p:nvSpPr>
          <p:cNvPr id="11" name="Shape 9"/>
          <p:cNvSpPr/>
          <p:nvPr/>
        </p:nvSpPr>
        <p:spPr>
          <a:xfrm>
            <a:off x="7161728" y="3146584"/>
            <a:ext cx="306705" cy="306705"/>
          </a:xfrm>
          <a:prstGeom prst="roundRect">
            <a:avLst>
              <a:gd name="adj" fmla="val 6669"/>
            </a:avLst>
          </a:prstGeom>
          <a:solidFill>
            <a:srgbClr val="F2EEEE"/>
          </a:solidFill>
          <a:ln/>
        </p:spPr>
      </p:sp>
      <p:sp>
        <p:nvSpPr>
          <p:cNvPr id="12" name="Text 10"/>
          <p:cNvSpPr/>
          <p:nvPr/>
        </p:nvSpPr>
        <p:spPr>
          <a:xfrm>
            <a:off x="7207746" y="3165753"/>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383838"/>
                </a:solidFill>
                <a:latin typeface="PT Serif" pitchFamily="34" charset="0"/>
                <a:ea typeface="PT Serif" pitchFamily="34" charset="-122"/>
                <a:cs typeface="PT Serif" pitchFamily="34" charset="-120"/>
              </a:rPr>
              <a:t>2</a:t>
            </a:r>
            <a:endParaRPr lang="en-US" sz="1650" dirty="0"/>
          </a:p>
        </p:txBody>
      </p:sp>
      <p:sp>
        <p:nvSpPr>
          <p:cNvPr id="13" name="Text 11"/>
          <p:cNvSpPr/>
          <p:nvPr/>
        </p:nvSpPr>
        <p:spPr>
          <a:xfrm>
            <a:off x="7996833" y="3193375"/>
            <a:ext cx="1789628" cy="223599"/>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Time in Vienna</a:t>
            </a:r>
            <a:endParaRPr lang="en-US" sz="1400" dirty="0"/>
          </a:p>
        </p:txBody>
      </p:sp>
      <p:sp>
        <p:nvSpPr>
          <p:cNvPr id="14" name="Text 12"/>
          <p:cNvSpPr/>
          <p:nvPr/>
        </p:nvSpPr>
        <p:spPr>
          <a:xfrm>
            <a:off x="7996833" y="3473172"/>
            <a:ext cx="4694634" cy="551855"/>
          </a:xfrm>
          <a:prstGeom prst="rect">
            <a:avLst/>
          </a:prstGeom>
          <a:noFill/>
          <a:ln/>
        </p:spPr>
        <p:txBody>
          <a:bodyPr wrap="square" lIns="0" tIns="0" rIns="0" bIns="0" rtlCol="0" anchor="t"/>
          <a:lstStyle/>
          <a:p>
            <a:pPr marL="0" indent="0" algn="l">
              <a:lnSpc>
                <a:spcPts val="1400"/>
              </a:lnSpc>
              <a:buNone/>
            </a:pPr>
            <a:r>
              <a:rPr lang="en-US" sz="1050" dirty="0">
                <a:solidFill>
                  <a:srgbClr val="383838"/>
                </a:solidFill>
                <a:latin typeface="DM Sans" pitchFamily="34" charset="0"/>
                <a:ea typeface="DM Sans" pitchFamily="34" charset="-122"/>
                <a:cs typeface="DM Sans" pitchFamily="34" charset="-120"/>
              </a:rPr>
              <a:t>His years in Vienna represent a crucial period of radicalisation. Hitler portrays the city as a cauldron of political and social conflict where he developed his anti-Semitic views and political theories.</a:t>
            </a:r>
            <a:endParaRPr lang="en-US" sz="1050" dirty="0"/>
          </a:p>
        </p:txBody>
      </p:sp>
      <p:sp>
        <p:nvSpPr>
          <p:cNvPr id="15" name="Shape 13"/>
          <p:cNvSpPr/>
          <p:nvPr/>
        </p:nvSpPr>
        <p:spPr>
          <a:xfrm>
            <a:off x="6767989" y="3954780"/>
            <a:ext cx="408980" cy="15240"/>
          </a:xfrm>
          <a:prstGeom prst="roundRect">
            <a:avLst>
              <a:gd name="adj" fmla="val 134209"/>
            </a:avLst>
          </a:prstGeom>
          <a:solidFill>
            <a:srgbClr val="D8D4D4"/>
          </a:solidFill>
          <a:ln/>
        </p:spPr>
      </p:sp>
      <p:sp>
        <p:nvSpPr>
          <p:cNvPr id="16" name="Shape 14"/>
          <p:cNvSpPr/>
          <p:nvPr/>
        </p:nvSpPr>
        <p:spPr>
          <a:xfrm>
            <a:off x="7161728" y="3809047"/>
            <a:ext cx="306705" cy="306705"/>
          </a:xfrm>
          <a:prstGeom prst="roundRect">
            <a:avLst>
              <a:gd name="adj" fmla="val 6669"/>
            </a:avLst>
          </a:prstGeom>
          <a:solidFill>
            <a:srgbClr val="F2EEEE"/>
          </a:solidFill>
          <a:ln/>
        </p:spPr>
      </p:sp>
      <p:sp>
        <p:nvSpPr>
          <p:cNvPr id="17" name="Text 15"/>
          <p:cNvSpPr/>
          <p:nvPr/>
        </p:nvSpPr>
        <p:spPr>
          <a:xfrm>
            <a:off x="7207746" y="3828217"/>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383838"/>
                </a:solidFill>
                <a:latin typeface="PT Serif" pitchFamily="34" charset="0"/>
                <a:ea typeface="PT Serif" pitchFamily="34" charset="-122"/>
                <a:cs typeface="PT Serif" pitchFamily="34" charset="-120"/>
              </a:rPr>
              <a:t>3</a:t>
            </a:r>
            <a:endParaRPr lang="en-US" sz="1650" dirty="0"/>
          </a:p>
        </p:txBody>
      </p:sp>
      <p:sp>
        <p:nvSpPr>
          <p:cNvPr id="18" name="Text 16"/>
          <p:cNvSpPr/>
          <p:nvPr/>
        </p:nvSpPr>
        <p:spPr>
          <a:xfrm>
            <a:off x="4843701" y="3855839"/>
            <a:ext cx="1789628" cy="223599"/>
          </a:xfrm>
          <a:prstGeom prst="rect">
            <a:avLst/>
          </a:prstGeom>
          <a:noFill/>
          <a:ln/>
        </p:spPr>
        <p:txBody>
          <a:bodyPr wrap="none" lIns="0" tIns="0" rIns="0" bIns="0" rtlCol="0" anchor="t"/>
          <a:lstStyle/>
          <a:p>
            <a:pPr marL="0" indent="0" algn="r">
              <a:lnSpc>
                <a:spcPts val="1750"/>
              </a:lnSpc>
              <a:buNone/>
            </a:pPr>
            <a:r>
              <a:rPr lang="en-US" sz="1400" dirty="0">
                <a:solidFill>
                  <a:srgbClr val="383838"/>
                </a:solidFill>
                <a:latin typeface="PT Serif" pitchFamily="34" charset="0"/>
                <a:ea typeface="PT Serif" pitchFamily="34" charset="-122"/>
                <a:cs typeface="PT Serif" pitchFamily="34" charset="-120"/>
              </a:rPr>
              <a:t>Munich Period</a:t>
            </a:r>
            <a:endParaRPr lang="en-US" sz="1400" dirty="0"/>
          </a:p>
        </p:txBody>
      </p:sp>
      <p:sp>
        <p:nvSpPr>
          <p:cNvPr id="19" name="Text 17"/>
          <p:cNvSpPr/>
          <p:nvPr/>
        </p:nvSpPr>
        <p:spPr>
          <a:xfrm>
            <a:off x="1938814" y="4135636"/>
            <a:ext cx="4694515" cy="551855"/>
          </a:xfrm>
          <a:prstGeom prst="rect">
            <a:avLst/>
          </a:prstGeom>
          <a:noFill/>
          <a:ln/>
        </p:spPr>
        <p:txBody>
          <a:bodyPr wrap="square" lIns="0" tIns="0" rIns="0" bIns="0" rtlCol="0" anchor="t"/>
          <a:lstStyle/>
          <a:p>
            <a:pPr marL="0" indent="0" algn="r">
              <a:lnSpc>
                <a:spcPts val="1400"/>
              </a:lnSpc>
              <a:buNone/>
            </a:pPr>
            <a:r>
              <a:rPr lang="en-US" sz="1050" dirty="0">
                <a:solidFill>
                  <a:srgbClr val="383838"/>
                </a:solidFill>
                <a:latin typeface="DM Sans" pitchFamily="34" charset="0"/>
                <a:ea typeface="DM Sans" pitchFamily="34" charset="-122"/>
                <a:cs typeface="DM Sans" pitchFamily="34" charset="-120"/>
              </a:rPr>
              <a:t>His move to Munich marks his full commitment to German nationalism. He describes joining the German Workers' Party, which would later become the Nazi Party.</a:t>
            </a:r>
            <a:endParaRPr lang="en-US" sz="1050" dirty="0"/>
          </a:p>
        </p:txBody>
      </p:sp>
      <p:sp>
        <p:nvSpPr>
          <p:cNvPr id="20" name="Shape 18"/>
          <p:cNvSpPr/>
          <p:nvPr/>
        </p:nvSpPr>
        <p:spPr>
          <a:xfrm>
            <a:off x="7453193" y="4617244"/>
            <a:ext cx="408980" cy="15240"/>
          </a:xfrm>
          <a:prstGeom prst="roundRect">
            <a:avLst>
              <a:gd name="adj" fmla="val 134209"/>
            </a:avLst>
          </a:prstGeom>
          <a:solidFill>
            <a:srgbClr val="D8D4D4"/>
          </a:solidFill>
          <a:ln/>
        </p:spPr>
      </p:sp>
      <p:sp>
        <p:nvSpPr>
          <p:cNvPr id="21" name="Shape 19"/>
          <p:cNvSpPr/>
          <p:nvPr/>
        </p:nvSpPr>
        <p:spPr>
          <a:xfrm>
            <a:off x="7161728" y="4471511"/>
            <a:ext cx="306705" cy="306705"/>
          </a:xfrm>
          <a:prstGeom prst="roundRect">
            <a:avLst>
              <a:gd name="adj" fmla="val 6669"/>
            </a:avLst>
          </a:prstGeom>
          <a:solidFill>
            <a:srgbClr val="F2EEEE"/>
          </a:solidFill>
          <a:ln/>
        </p:spPr>
      </p:sp>
      <p:sp>
        <p:nvSpPr>
          <p:cNvPr id="22" name="Text 20"/>
          <p:cNvSpPr/>
          <p:nvPr/>
        </p:nvSpPr>
        <p:spPr>
          <a:xfrm>
            <a:off x="7207746" y="4490680"/>
            <a:ext cx="214670" cy="268367"/>
          </a:xfrm>
          <a:prstGeom prst="rect">
            <a:avLst/>
          </a:prstGeom>
          <a:noFill/>
          <a:ln/>
        </p:spPr>
        <p:txBody>
          <a:bodyPr wrap="none" lIns="0" tIns="0" rIns="0" bIns="0" rtlCol="0" anchor="t"/>
          <a:lstStyle/>
          <a:p>
            <a:pPr marL="0" indent="0" algn="ctr">
              <a:lnSpc>
                <a:spcPts val="1650"/>
              </a:lnSpc>
              <a:buNone/>
            </a:pPr>
            <a:r>
              <a:rPr lang="en-US" sz="1650" dirty="0">
                <a:solidFill>
                  <a:srgbClr val="383838"/>
                </a:solidFill>
                <a:latin typeface="PT Serif" pitchFamily="34" charset="0"/>
                <a:ea typeface="PT Serif" pitchFamily="34" charset="-122"/>
                <a:cs typeface="PT Serif" pitchFamily="34" charset="-120"/>
              </a:rPr>
              <a:t>4</a:t>
            </a:r>
            <a:endParaRPr lang="en-US" sz="1650" dirty="0"/>
          </a:p>
        </p:txBody>
      </p:sp>
      <p:sp>
        <p:nvSpPr>
          <p:cNvPr id="23" name="Text 21"/>
          <p:cNvSpPr/>
          <p:nvPr/>
        </p:nvSpPr>
        <p:spPr>
          <a:xfrm>
            <a:off x="7996833" y="4518303"/>
            <a:ext cx="2141934" cy="223599"/>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World War I and Aftermath</a:t>
            </a:r>
            <a:endParaRPr lang="en-US" sz="1400" dirty="0"/>
          </a:p>
        </p:txBody>
      </p:sp>
      <p:sp>
        <p:nvSpPr>
          <p:cNvPr id="24" name="Text 22"/>
          <p:cNvSpPr/>
          <p:nvPr/>
        </p:nvSpPr>
        <p:spPr>
          <a:xfrm>
            <a:off x="7996833" y="4798100"/>
            <a:ext cx="4694634" cy="367903"/>
          </a:xfrm>
          <a:prstGeom prst="rect">
            <a:avLst/>
          </a:prstGeom>
          <a:noFill/>
          <a:ln/>
        </p:spPr>
        <p:txBody>
          <a:bodyPr wrap="square" lIns="0" tIns="0" rIns="0" bIns="0" rtlCol="0" anchor="t"/>
          <a:lstStyle/>
          <a:p>
            <a:pPr marL="0" indent="0" algn="l">
              <a:lnSpc>
                <a:spcPts val="1400"/>
              </a:lnSpc>
              <a:buNone/>
            </a:pPr>
            <a:r>
              <a:rPr lang="en-US" sz="1050" dirty="0">
                <a:solidFill>
                  <a:srgbClr val="383838"/>
                </a:solidFill>
                <a:latin typeface="DM Sans" pitchFamily="34" charset="0"/>
                <a:ea typeface="DM Sans" pitchFamily="34" charset="-122"/>
                <a:cs typeface="DM Sans" pitchFamily="34" charset="-120"/>
              </a:rPr>
              <a:t>Hitler discusses his military service and Germany's defeat, introducing the "stab-in-the-back" myth that would become central to Nazi propaganda.</a:t>
            </a:r>
            <a:endParaRPr lang="en-US" sz="1050" dirty="0"/>
          </a:p>
        </p:txBody>
      </p:sp>
      <p:sp>
        <p:nvSpPr>
          <p:cNvPr id="25" name="Text 23"/>
          <p:cNvSpPr/>
          <p:nvPr/>
        </p:nvSpPr>
        <p:spPr>
          <a:xfrm>
            <a:off x="1938814" y="5714524"/>
            <a:ext cx="10752653" cy="551855"/>
          </a:xfrm>
          <a:prstGeom prst="rect">
            <a:avLst/>
          </a:prstGeom>
          <a:noFill/>
          <a:ln/>
        </p:spPr>
        <p:txBody>
          <a:bodyPr wrap="square" lIns="0" tIns="0" rIns="0" bIns="0" rtlCol="0" anchor="t"/>
          <a:lstStyle/>
          <a:p>
            <a:pPr marL="0" indent="0" algn="l">
              <a:lnSpc>
                <a:spcPts val="1400"/>
              </a:lnSpc>
              <a:buNone/>
            </a:pPr>
            <a:r>
              <a:rPr lang="en-US" sz="1050" dirty="0">
                <a:solidFill>
                  <a:srgbClr val="383838"/>
                </a:solidFill>
                <a:latin typeface="DM Sans" pitchFamily="34" charset="0"/>
                <a:ea typeface="DM Sans" pitchFamily="34" charset="-122"/>
                <a:cs typeface="DM Sans" pitchFamily="34" charset="-120"/>
              </a:rPr>
              <a:t>Throughout this volume, Hitler systematically constructs a narrative that positions himself as a political prophet whose worldview emerged from direct observation and personal suffering. He attributes his ideological development to witnessing what he perceived as the moral and political decay of European society, particularly focusing on what he viewed as Jewish influence in finance, media, and revolutionary movements.</a:t>
            </a:r>
            <a:endParaRPr lang="en-US" sz="1050" dirty="0"/>
          </a:p>
        </p:txBody>
      </p:sp>
      <p:sp>
        <p:nvSpPr>
          <p:cNvPr id="26" name="Text 24"/>
          <p:cNvSpPr/>
          <p:nvPr/>
        </p:nvSpPr>
        <p:spPr>
          <a:xfrm>
            <a:off x="1938814" y="6371749"/>
            <a:ext cx="10752653" cy="551855"/>
          </a:xfrm>
          <a:prstGeom prst="rect">
            <a:avLst/>
          </a:prstGeom>
          <a:noFill/>
          <a:ln/>
        </p:spPr>
        <p:txBody>
          <a:bodyPr wrap="square" lIns="0" tIns="0" rIns="0" bIns="0" rtlCol="0" anchor="t"/>
          <a:lstStyle/>
          <a:p>
            <a:pPr marL="0" indent="0" algn="l">
              <a:lnSpc>
                <a:spcPts val="1400"/>
              </a:lnSpc>
              <a:buNone/>
            </a:pPr>
            <a:r>
              <a:rPr lang="en-US" sz="1050" dirty="0">
                <a:solidFill>
                  <a:srgbClr val="383838"/>
                </a:solidFill>
                <a:latin typeface="DM Sans" pitchFamily="34" charset="0"/>
                <a:ea typeface="DM Sans" pitchFamily="34" charset="-122"/>
                <a:cs typeface="DM Sans" pitchFamily="34" charset="-120"/>
              </a:rPr>
              <a:t>A central theme in Volume One is Hitler's explanation of Germany's defeat in World War I. He vehemently rejects the notion that Germany lost through military inferiority, instead promoting the conspiracy theory that internal enemies—particularly Jews and Marxists—betrayed Germany from within. This "stab-in-the-back" legend became a cornerstone of Nazi propaganda and helped explain how Hitler justified his subsequent political actions.</a:t>
            </a:r>
            <a:endParaRPr lang="en-US" sz="1050" dirty="0"/>
          </a:p>
        </p:txBody>
      </p:sp>
      <p:sp>
        <p:nvSpPr>
          <p:cNvPr id="28" name="Rectangle 27">
            <a:extLst>
              <a:ext uri="{FF2B5EF4-FFF2-40B4-BE49-F238E27FC236}">
                <a16:creationId xmlns:a16="http://schemas.microsoft.com/office/drawing/2014/main" id="{DBD7A892-9B1F-BCA5-0051-BE94014E7C00}"/>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5453" y="737354"/>
            <a:ext cx="11058168" cy="628055"/>
          </a:xfrm>
          <a:prstGeom prst="rect">
            <a:avLst/>
          </a:prstGeom>
          <a:noFill/>
          <a:ln/>
        </p:spPr>
        <p:txBody>
          <a:bodyPr wrap="none" lIns="0" tIns="0" rIns="0" bIns="0" rtlCol="0" anchor="t"/>
          <a:lstStyle/>
          <a:p>
            <a:pPr marL="0" indent="0" algn="l">
              <a:lnSpc>
                <a:spcPts val="4900"/>
              </a:lnSpc>
              <a:buNone/>
            </a:pPr>
            <a:r>
              <a:rPr lang="en-US" sz="3950" dirty="0">
                <a:solidFill>
                  <a:srgbClr val="020202"/>
                </a:solidFill>
                <a:latin typeface="PT Serif" pitchFamily="34" charset="0"/>
                <a:ea typeface="PT Serif" pitchFamily="34" charset="-122"/>
                <a:cs typeface="PT Serif" pitchFamily="34" charset="-120"/>
              </a:rPr>
              <a:t>Volume Two: Political Ideology and Future Vision</a:t>
            </a:r>
            <a:endParaRPr lang="en-US" sz="3950" dirty="0"/>
          </a:p>
        </p:txBody>
      </p:sp>
      <p:sp>
        <p:nvSpPr>
          <p:cNvPr id="3" name="Text 1"/>
          <p:cNvSpPr/>
          <p:nvPr/>
        </p:nvSpPr>
        <p:spPr>
          <a:xfrm>
            <a:off x="765453" y="1734503"/>
            <a:ext cx="13099494" cy="601266"/>
          </a:xfrm>
          <a:prstGeom prst="rect">
            <a:avLst/>
          </a:prstGeom>
          <a:noFill/>
          <a:ln/>
        </p:spPr>
        <p:txBody>
          <a:bodyPr wrap="square" lIns="0" tIns="0" rIns="0" bIns="0" rtlCol="0" anchor="t"/>
          <a:lstStyle/>
          <a:p>
            <a:pPr marL="0" indent="0" algn="l">
              <a:lnSpc>
                <a:spcPts val="2350"/>
              </a:lnSpc>
              <a:buNone/>
            </a:pPr>
            <a:r>
              <a:rPr lang="en-US" sz="1500" dirty="0">
                <a:solidFill>
                  <a:srgbClr val="383838"/>
                </a:solidFill>
                <a:latin typeface="DM Sans" pitchFamily="34" charset="0"/>
                <a:ea typeface="DM Sans" pitchFamily="34" charset="-122"/>
                <a:cs typeface="DM Sans" pitchFamily="34" charset="-120"/>
              </a:rPr>
              <a:t>The second volume of </a:t>
            </a:r>
            <a:r>
              <a:rPr lang="en-US" sz="1500" i="1" dirty="0">
                <a:solidFill>
                  <a:srgbClr val="383838"/>
                </a:solidFill>
                <a:latin typeface="DM Sans" pitchFamily="34" charset="0"/>
                <a:ea typeface="DM Sans" pitchFamily="34" charset="-122"/>
                <a:cs typeface="DM Sans" pitchFamily="34" charset="-120"/>
              </a:rPr>
              <a:t>Mein Kampf</a:t>
            </a:r>
            <a:r>
              <a:rPr lang="en-US" sz="1500" dirty="0">
                <a:solidFill>
                  <a:srgbClr val="383838"/>
                </a:solidFill>
                <a:latin typeface="DM Sans" pitchFamily="34" charset="0"/>
                <a:ea typeface="DM Sans" pitchFamily="34" charset="-122"/>
                <a:cs typeface="DM Sans" pitchFamily="34" charset="-120"/>
              </a:rPr>
              <a:t> represents a significant departure from the autobiographical tone of the first volume. Here, Hitler transitions from personal narrative to comprehensive political theory, articulating the ideological framework that would later define Nazi Germany.</a:t>
            </a:r>
            <a:endParaRPr lang="en-US" sz="15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453" y="2543294"/>
            <a:ext cx="478393" cy="478393"/>
          </a:xfrm>
          <a:prstGeom prst="rect">
            <a:avLst/>
          </a:prstGeom>
        </p:spPr>
      </p:pic>
      <p:sp>
        <p:nvSpPr>
          <p:cNvPr id="5" name="Text 2"/>
          <p:cNvSpPr/>
          <p:nvPr/>
        </p:nvSpPr>
        <p:spPr>
          <a:xfrm>
            <a:off x="765453" y="3252311"/>
            <a:ext cx="2853095" cy="313968"/>
          </a:xfrm>
          <a:prstGeom prst="rect">
            <a:avLst/>
          </a:prstGeom>
          <a:noFill/>
          <a:ln/>
        </p:spPr>
        <p:txBody>
          <a:bodyPr wrap="none" lIns="0" tIns="0" rIns="0" bIns="0" rtlCol="0" anchor="t"/>
          <a:lstStyle/>
          <a:p>
            <a:pPr marL="0" indent="0" algn="l">
              <a:lnSpc>
                <a:spcPts val="2450"/>
              </a:lnSpc>
              <a:buNone/>
            </a:pPr>
            <a:r>
              <a:rPr lang="en-US" sz="1950" dirty="0">
                <a:solidFill>
                  <a:srgbClr val="383838"/>
                </a:solidFill>
                <a:latin typeface="PT Serif" pitchFamily="34" charset="0"/>
                <a:ea typeface="PT Serif" pitchFamily="34" charset="-122"/>
                <a:cs typeface="PT Serif" pitchFamily="34" charset="-120"/>
              </a:rPr>
              <a:t>The Propaganda Doctrine</a:t>
            </a:r>
            <a:endParaRPr lang="en-US" sz="1950" dirty="0"/>
          </a:p>
        </p:txBody>
      </p:sp>
      <p:sp>
        <p:nvSpPr>
          <p:cNvPr id="6" name="Text 3"/>
          <p:cNvSpPr/>
          <p:nvPr/>
        </p:nvSpPr>
        <p:spPr>
          <a:xfrm>
            <a:off x="765453" y="3677007"/>
            <a:ext cx="4212669" cy="2405063"/>
          </a:xfrm>
          <a:prstGeom prst="rect">
            <a:avLst/>
          </a:prstGeom>
          <a:noFill/>
          <a:ln/>
        </p:spPr>
        <p:txBody>
          <a:bodyPr wrap="square" lIns="0" tIns="0" rIns="0" bIns="0" rtlCol="0" anchor="t"/>
          <a:lstStyle/>
          <a:p>
            <a:pPr marL="0" indent="0" algn="l">
              <a:lnSpc>
                <a:spcPts val="2350"/>
              </a:lnSpc>
              <a:buNone/>
            </a:pPr>
            <a:r>
              <a:rPr lang="en-US" sz="1500" dirty="0">
                <a:solidFill>
                  <a:srgbClr val="383838"/>
                </a:solidFill>
                <a:latin typeface="DM Sans" pitchFamily="34" charset="0"/>
                <a:ea typeface="DM Sans" pitchFamily="34" charset="-122"/>
                <a:cs typeface="DM Sans" pitchFamily="34" charset="-120"/>
              </a:rPr>
              <a:t>Hitler dedicates extensive passages to propaganda theory, arguing that effective political communication must be simple, emotionally resonant, and relentlessly repeated. He emphasises the importance of targeting emotions rather than intellect, using repetition to embed ideas in the collective consciousness.</a:t>
            </a:r>
            <a:endParaRPr lang="en-US" sz="15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8746" y="2543294"/>
            <a:ext cx="478393" cy="478393"/>
          </a:xfrm>
          <a:prstGeom prst="rect">
            <a:avLst/>
          </a:prstGeom>
        </p:spPr>
      </p:pic>
      <p:sp>
        <p:nvSpPr>
          <p:cNvPr id="8" name="Text 4"/>
          <p:cNvSpPr/>
          <p:nvPr/>
        </p:nvSpPr>
        <p:spPr>
          <a:xfrm>
            <a:off x="5208746" y="3252311"/>
            <a:ext cx="2846308" cy="313968"/>
          </a:xfrm>
          <a:prstGeom prst="rect">
            <a:avLst/>
          </a:prstGeom>
          <a:noFill/>
          <a:ln/>
        </p:spPr>
        <p:txBody>
          <a:bodyPr wrap="none" lIns="0" tIns="0" rIns="0" bIns="0" rtlCol="0" anchor="t"/>
          <a:lstStyle/>
          <a:p>
            <a:pPr marL="0" indent="0" algn="l">
              <a:lnSpc>
                <a:spcPts val="2450"/>
              </a:lnSpc>
              <a:buNone/>
            </a:pPr>
            <a:r>
              <a:rPr lang="en-US" sz="1950" dirty="0">
                <a:solidFill>
                  <a:srgbClr val="383838"/>
                </a:solidFill>
                <a:latin typeface="PT Serif" pitchFamily="34" charset="0"/>
                <a:ea typeface="PT Serif" pitchFamily="34" charset="-122"/>
                <a:cs typeface="PT Serif" pitchFamily="34" charset="-120"/>
              </a:rPr>
              <a:t>Leadership and Authority</a:t>
            </a:r>
            <a:endParaRPr lang="en-US" sz="1950" dirty="0"/>
          </a:p>
        </p:txBody>
      </p:sp>
      <p:sp>
        <p:nvSpPr>
          <p:cNvPr id="9" name="Text 5"/>
          <p:cNvSpPr/>
          <p:nvPr/>
        </p:nvSpPr>
        <p:spPr>
          <a:xfrm>
            <a:off x="5208746" y="3677007"/>
            <a:ext cx="4212788" cy="1803797"/>
          </a:xfrm>
          <a:prstGeom prst="rect">
            <a:avLst/>
          </a:prstGeom>
          <a:noFill/>
          <a:ln/>
        </p:spPr>
        <p:txBody>
          <a:bodyPr wrap="square" lIns="0" tIns="0" rIns="0" bIns="0" rtlCol="0" anchor="t"/>
          <a:lstStyle/>
          <a:p>
            <a:pPr marL="0" indent="0" algn="l">
              <a:lnSpc>
                <a:spcPts val="2350"/>
              </a:lnSpc>
              <a:buNone/>
            </a:pPr>
            <a:r>
              <a:rPr lang="en-US" sz="1500" dirty="0">
                <a:solidFill>
                  <a:srgbClr val="383838"/>
                </a:solidFill>
                <a:latin typeface="DM Sans" pitchFamily="34" charset="0"/>
                <a:ea typeface="DM Sans" pitchFamily="34" charset="-122"/>
                <a:cs typeface="DM Sans" pitchFamily="34" charset="-120"/>
              </a:rPr>
              <a:t>The concept of a strong central leader forms a cornerstone of Hitler's political philosophy. He argues against democratic systems and parliamentary debate, claiming that decisive, unchallenged leadership is essential for national strength and unity.</a:t>
            </a:r>
            <a:endParaRPr lang="en-US" sz="15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2159" y="2543294"/>
            <a:ext cx="478393" cy="478393"/>
          </a:xfrm>
          <a:prstGeom prst="rect">
            <a:avLst/>
          </a:prstGeom>
        </p:spPr>
      </p:pic>
      <p:sp>
        <p:nvSpPr>
          <p:cNvPr id="11" name="Text 6"/>
          <p:cNvSpPr/>
          <p:nvPr/>
        </p:nvSpPr>
        <p:spPr>
          <a:xfrm>
            <a:off x="9652159" y="3252311"/>
            <a:ext cx="2511862" cy="313968"/>
          </a:xfrm>
          <a:prstGeom prst="rect">
            <a:avLst/>
          </a:prstGeom>
          <a:noFill/>
          <a:ln/>
        </p:spPr>
        <p:txBody>
          <a:bodyPr wrap="none" lIns="0" tIns="0" rIns="0" bIns="0" rtlCol="0" anchor="t"/>
          <a:lstStyle/>
          <a:p>
            <a:pPr marL="0" indent="0" algn="l">
              <a:lnSpc>
                <a:spcPts val="2450"/>
              </a:lnSpc>
              <a:buNone/>
            </a:pPr>
            <a:r>
              <a:rPr lang="en-US" sz="1950" dirty="0">
                <a:solidFill>
                  <a:srgbClr val="383838"/>
                </a:solidFill>
                <a:latin typeface="PT Serif" pitchFamily="34" charset="0"/>
                <a:ea typeface="PT Serif" pitchFamily="34" charset="-122"/>
                <a:cs typeface="PT Serif" pitchFamily="34" charset="-120"/>
              </a:rPr>
              <a:t>State Power</a:t>
            </a:r>
            <a:endParaRPr lang="en-US" sz="1950" dirty="0"/>
          </a:p>
        </p:txBody>
      </p:sp>
      <p:sp>
        <p:nvSpPr>
          <p:cNvPr id="12" name="Text 7"/>
          <p:cNvSpPr/>
          <p:nvPr/>
        </p:nvSpPr>
        <p:spPr>
          <a:xfrm>
            <a:off x="9652159" y="3677007"/>
            <a:ext cx="4212669" cy="1803797"/>
          </a:xfrm>
          <a:prstGeom prst="rect">
            <a:avLst/>
          </a:prstGeom>
          <a:noFill/>
          <a:ln/>
        </p:spPr>
        <p:txBody>
          <a:bodyPr wrap="square" lIns="0" tIns="0" rIns="0" bIns="0" rtlCol="0" anchor="t"/>
          <a:lstStyle/>
          <a:p>
            <a:pPr marL="0" indent="0" algn="l">
              <a:lnSpc>
                <a:spcPts val="2350"/>
              </a:lnSpc>
              <a:buNone/>
            </a:pPr>
            <a:r>
              <a:rPr lang="en-US" sz="1500" dirty="0">
                <a:solidFill>
                  <a:srgbClr val="383838"/>
                </a:solidFill>
                <a:latin typeface="DM Sans" pitchFamily="34" charset="0"/>
                <a:ea typeface="DM Sans" pitchFamily="34" charset="-122"/>
                <a:cs typeface="DM Sans" pitchFamily="34" charset="-120"/>
              </a:rPr>
              <a:t>Hitler presents a vision of the state as an instrument of racial purity and national expansion. He advocates for complete state control over education, media, and cultural institutions to ensure ideological conformity and national unity.</a:t>
            </a:r>
            <a:endParaRPr lang="en-US" sz="1500" dirty="0"/>
          </a:p>
        </p:txBody>
      </p:sp>
      <p:sp>
        <p:nvSpPr>
          <p:cNvPr id="13" name="Text 8"/>
          <p:cNvSpPr/>
          <p:nvPr/>
        </p:nvSpPr>
        <p:spPr>
          <a:xfrm>
            <a:off x="765453" y="6289596"/>
            <a:ext cx="13099494" cy="1202531"/>
          </a:xfrm>
          <a:prstGeom prst="rect">
            <a:avLst/>
          </a:prstGeom>
          <a:noFill/>
          <a:ln/>
        </p:spPr>
        <p:txBody>
          <a:bodyPr wrap="square" lIns="0" tIns="0" rIns="0" bIns="0" rtlCol="0" anchor="t"/>
          <a:lstStyle/>
          <a:p>
            <a:pPr marL="0" indent="0" algn="l">
              <a:lnSpc>
                <a:spcPts val="2350"/>
              </a:lnSpc>
              <a:buNone/>
            </a:pPr>
            <a:r>
              <a:rPr lang="en-US" sz="1500" dirty="0">
                <a:solidFill>
                  <a:srgbClr val="383838"/>
                </a:solidFill>
                <a:latin typeface="DM Sans" pitchFamily="34" charset="0"/>
                <a:ea typeface="DM Sans" pitchFamily="34" charset="-122"/>
                <a:cs typeface="DM Sans" pitchFamily="34" charset="-120"/>
              </a:rPr>
              <a:t>These ideological principles outlined in Volume Two would later become fundamental components of Nazi governance. The emphasis on propaganda directly influenced Joseph Goebbels' work as Minister of Propaganda. The rejection of democracy and advocacy for authoritarian leadership provided the theoretical justification for Hitler's consolidation of power. The vision of state control over all aspects of society became reality through the creation of the totalitarian Nazi state.</a:t>
            </a:r>
            <a:endParaRPr lang="en-US" sz="1500" dirty="0"/>
          </a:p>
        </p:txBody>
      </p:sp>
      <p:sp>
        <p:nvSpPr>
          <p:cNvPr id="14" name="Rectangle 13">
            <a:extLst>
              <a:ext uri="{FF2B5EF4-FFF2-40B4-BE49-F238E27FC236}">
                <a16:creationId xmlns:a16="http://schemas.microsoft.com/office/drawing/2014/main" id="{56DBE5D7-0F69-32D8-7EC1-7E0139073E3E}"/>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9020" y="657344"/>
            <a:ext cx="10743843" cy="598051"/>
          </a:xfrm>
          <a:prstGeom prst="rect">
            <a:avLst/>
          </a:prstGeom>
          <a:noFill/>
          <a:ln/>
        </p:spPr>
        <p:txBody>
          <a:bodyPr wrap="none" lIns="0" tIns="0" rIns="0" bIns="0" rtlCol="0" anchor="t"/>
          <a:lstStyle/>
          <a:p>
            <a:pPr marL="0" indent="0" algn="l">
              <a:lnSpc>
                <a:spcPts val="4700"/>
              </a:lnSpc>
              <a:buNone/>
            </a:pPr>
            <a:r>
              <a:rPr lang="en-US" sz="3750" dirty="0">
                <a:solidFill>
                  <a:srgbClr val="020202"/>
                </a:solidFill>
                <a:latin typeface="PT Serif" pitchFamily="34" charset="0"/>
                <a:ea typeface="PT Serif" pitchFamily="34" charset="-122"/>
                <a:cs typeface="PT Serif" pitchFamily="34" charset="-120"/>
              </a:rPr>
              <a:t>Historical Significance: A Roadmap to Catastrophe</a:t>
            </a:r>
            <a:endParaRPr lang="en-US" sz="3750" dirty="0"/>
          </a:p>
        </p:txBody>
      </p:sp>
      <p:sp>
        <p:nvSpPr>
          <p:cNvPr id="3" name="Text 1"/>
          <p:cNvSpPr/>
          <p:nvPr/>
        </p:nvSpPr>
        <p:spPr>
          <a:xfrm>
            <a:off x="729020" y="1673662"/>
            <a:ext cx="3820477" cy="298966"/>
          </a:xfrm>
          <a:prstGeom prst="rect">
            <a:avLst/>
          </a:prstGeom>
          <a:noFill/>
          <a:ln/>
        </p:spPr>
        <p:txBody>
          <a:bodyPr wrap="none" lIns="0" tIns="0" rIns="0" bIns="0" rtlCol="0" anchor="t"/>
          <a:lstStyle/>
          <a:p>
            <a:pPr marL="0" indent="0" algn="l">
              <a:lnSpc>
                <a:spcPts val="2350"/>
              </a:lnSpc>
              <a:buNone/>
            </a:pPr>
            <a:r>
              <a:rPr lang="en-US" sz="1850" dirty="0">
                <a:solidFill>
                  <a:srgbClr val="020202"/>
                </a:solidFill>
                <a:latin typeface="PT Serif" pitchFamily="34" charset="0"/>
                <a:ea typeface="PT Serif" pitchFamily="34" charset="-122"/>
                <a:cs typeface="PT Serif" pitchFamily="34" charset="-120"/>
              </a:rPr>
              <a:t>Understanding Extremist Ideologies</a:t>
            </a:r>
            <a:endParaRPr lang="en-US" sz="1850" dirty="0"/>
          </a:p>
        </p:txBody>
      </p:sp>
      <p:sp>
        <p:nvSpPr>
          <p:cNvPr id="4" name="Text 2"/>
          <p:cNvSpPr/>
          <p:nvPr/>
        </p:nvSpPr>
        <p:spPr>
          <a:xfrm>
            <a:off x="729020" y="2139910"/>
            <a:ext cx="6363891" cy="1398389"/>
          </a:xfrm>
          <a:prstGeom prst="rect">
            <a:avLst/>
          </a:prstGeom>
          <a:noFill/>
          <a:ln/>
        </p:spPr>
        <p:txBody>
          <a:bodyPr wrap="square" lIns="0" tIns="0" rIns="0" bIns="0" rtlCol="0" anchor="t"/>
          <a:lstStyle/>
          <a:p>
            <a:pPr marL="0" indent="0" algn="l">
              <a:lnSpc>
                <a:spcPts val="2200"/>
              </a:lnSpc>
              <a:buNone/>
            </a:pPr>
            <a:r>
              <a:rPr lang="en-US" sz="1400" dirty="0">
                <a:solidFill>
                  <a:srgbClr val="383838"/>
                </a:solidFill>
                <a:latin typeface="DM Sans" pitchFamily="34" charset="0"/>
                <a:ea typeface="DM Sans" pitchFamily="34" charset="-122"/>
                <a:cs typeface="DM Sans" pitchFamily="34" charset="-120"/>
              </a:rPr>
              <a:t>Historically, </a:t>
            </a:r>
            <a:r>
              <a:rPr lang="en-US" sz="1400" i="1" dirty="0">
                <a:solidFill>
                  <a:srgbClr val="383838"/>
                </a:solidFill>
                <a:latin typeface="DM Sans" pitchFamily="34" charset="0"/>
                <a:ea typeface="DM Sans" pitchFamily="34" charset="-122"/>
                <a:cs typeface="DM Sans" pitchFamily="34" charset="-120"/>
              </a:rPr>
              <a:t>Mein Kampf</a:t>
            </a:r>
            <a:r>
              <a:rPr lang="en-US" sz="1400" dirty="0">
                <a:solidFill>
                  <a:srgbClr val="383838"/>
                </a:solidFill>
                <a:latin typeface="DM Sans" pitchFamily="34" charset="0"/>
                <a:ea typeface="DM Sans" pitchFamily="34" charset="-122"/>
                <a:cs typeface="DM Sans" pitchFamily="34" charset="-120"/>
              </a:rPr>
              <a:t> holds immense importance as a document that clearly articulates the ideology that later led to the rise of Nazi Germany, World War II, and the Holocaust. Unlike many political manifestos that present abstract theories, Hitler's work reads as a practical roadmap for implementing extremist policies.</a:t>
            </a:r>
            <a:endParaRPr lang="en-US" sz="1400" dirty="0"/>
          </a:p>
        </p:txBody>
      </p:sp>
      <p:sp>
        <p:nvSpPr>
          <p:cNvPr id="5" name="Text 3"/>
          <p:cNvSpPr/>
          <p:nvPr/>
        </p:nvSpPr>
        <p:spPr>
          <a:xfrm>
            <a:off x="729020" y="3688913"/>
            <a:ext cx="6363891" cy="1678067"/>
          </a:xfrm>
          <a:prstGeom prst="rect">
            <a:avLst/>
          </a:prstGeom>
          <a:noFill/>
          <a:ln/>
        </p:spPr>
        <p:txBody>
          <a:bodyPr wrap="square" lIns="0" tIns="0" rIns="0" bIns="0" rtlCol="0" anchor="t"/>
          <a:lstStyle/>
          <a:p>
            <a:pPr marL="0" indent="0" algn="l">
              <a:lnSpc>
                <a:spcPts val="2200"/>
              </a:lnSpc>
              <a:buNone/>
            </a:pPr>
            <a:r>
              <a:rPr lang="en-US" sz="1400" dirty="0">
                <a:solidFill>
                  <a:srgbClr val="383838"/>
                </a:solidFill>
                <a:latin typeface="DM Sans" pitchFamily="34" charset="0"/>
                <a:ea typeface="DM Sans" pitchFamily="34" charset="-122"/>
                <a:cs typeface="DM Sans" pitchFamily="34" charset="-120"/>
              </a:rPr>
              <a:t>Many of the specific ideas Hitler articulated in the book were later translated directly into government policy when he assumed power in 1933. His advocacy for Lebensraum (living space) in Eastern Europe justified Germany's expansionist military campaigns. His anti-Semitic conspiracy theories formed the ideological foundation for the Nuremberg Laws and ultimately the Holocaust.</a:t>
            </a:r>
            <a:endParaRPr lang="en-US" sz="1400" dirty="0"/>
          </a:p>
        </p:txBody>
      </p:sp>
      <p:sp>
        <p:nvSpPr>
          <p:cNvPr id="6" name="Text 4"/>
          <p:cNvSpPr/>
          <p:nvPr/>
        </p:nvSpPr>
        <p:spPr>
          <a:xfrm>
            <a:off x="7545110" y="1673662"/>
            <a:ext cx="2392323" cy="298966"/>
          </a:xfrm>
          <a:prstGeom prst="rect">
            <a:avLst/>
          </a:prstGeom>
          <a:noFill/>
          <a:ln/>
        </p:spPr>
        <p:txBody>
          <a:bodyPr wrap="none" lIns="0" tIns="0" rIns="0" bIns="0" rtlCol="0" anchor="t"/>
          <a:lstStyle/>
          <a:p>
            <a:pPr marL="0" indent="0" algn="l">
              <a:lnSpc>
                <a:spcPts val="2350"/>
              </a:lnSpc>
              <a:buNone/>
            </a:pPr>
            <a:r>
              <a:rPr lang="en-US" sz="1850" dirty="0">
                <a:solidFill>
                  <a:srgbClr val="020202"/>
                </a:solidFill>
                <a:latin typeface="PT Serif" pitchFamily="34" charset="0"/>
                <a:ea typeface="PT Serif" pitchFamily="34" charset="-122"/>
                <a:cs typeface="PT Serif" pitchFamily="34" charset="-120"/>
              </a:rPr>
              <a:t>Academic Value</a:t>
            </a:r>
            <a:endParaRPr lang="en-US" sz="1850" dirty="0"/>
          </a:p>
        </p:txBody>
      </p:sp>
      <p:sp>
        <p:nvSpPr>
          <p:cNvPr id="7" name="Text 5"/>
          <p:cNvSpPr/>
          <p:nvPr/>
        </p:nvSpPr>
        <p:spPr>
          <a:xfrm>
            <a:off x="7545110" y="2139910"/>
            <a:ext cx="6363891" cy="559356"/>
          </a:xfrm>
          <a:prstGeom prst="rect">
            <a:avLst/>
          </a:prstGeom>
          <a:noFill/>
          <a:ln/>
        </p:spPr>
        <p:txBody>
          <a:bodyPr wrap="square" lIns="0" tIns="0" rIns="0" bIns="0" rtlCol="0" anchor="t"/>
          <a:lstStyle/>
          <a:p>
            <a:pPr marL="0" indent="0" algn="l">
              <a:lnSpc>
                <a:spcPts val="2200"/>
              </a:lnSpc>
              <a:buNone/>
            </a:pPr>
            <a:r>
              <a:rPr lang="en-US" sz="1400" dirty="0">
                <a:solidFill>
                  <a:srgbClr val="383838"/>
                </a:solidFill>
                <a:latin typeface="DM Sans" pitchFamily="34" charset="0"/>
                <a:ea typeface="DM Sans" pitchFamily="34" charset="-122"/>
                <a:cs typeface="DM Sans" pitchFamily="34" charset="-120"/>
              </a:rPr>
              <a:t>Because of this direct correlation between ideology and action, historians and scholars study </a:t>
            </a:r>
            <a:r>
              <a:rPr lang="en-US" sz="1400" i="1" dirty="0">
                <a:solidFill>
                  <a:srgbClr val="383838"/>
                </a:solidFill>
                <a:latin typeface="DM Sans" pitchFamily="34" charset="0"/>
                <a:ea typeface="DM Sans" pitchFamily="34" charset="-122"/>
                <a:cs typeface="DM Sans" pitchFamily="34" charset="-120"/>
              </a:rPr>
              <a:t>Mein Kampf</a:t>
            </a:r>
            <a:r>
              <a:rPr lang="en-US" sz="1400" dirty="0">
                <a:solidFill>
                  <a:srgbClr val="383838"/>
                </a:solidFill>
                <a:latin typeface="DM Sans" pitchFamily="34" charset="0"/>
                <a:ea typeface="DM Sans" pitchFamily="34" charset="-122"/>
                <a:cs typeface="DM Sans" pitchFamily="34" charset="-120"/>
              </a:rPr>
              <a:t> extensively to understand:</a:t>
            </a:r>
            <a:endParaRPr lang="en-US" sz="1400" dirty="0"/>
          </a:p>
        </p:txBody>
      </p:sp>
      <p:sp>
        <p:nvSpPr>
          <p:cNvPr id="8" name="Text 6"/>
          <p:cNvSpPr/>
          <p:nvPr/>
        </p:nvSpPr>
        <p:spPr>
          <a:xfrm>
            <a:off x="7545110" y="2849880"/>
            <a:ext cx="6363891" cy="1294448"/>
          </a:xfrm>
          <a:prstGeom prst="rect">
            <a:avLst/>
          </a:prstGeom>
          <a:noFill/>
          <a:ln/>
        </p:spPr>
        <p:txBody>
          <a:bodyPr wrap="square" lIns="0" tIns="0" rIns="0" bIns="0" rtlCol="0" anchor="t"/>
          <a:lstStyle/>
          <a:p>
            <a:pPr marL="342900" indent="-342900" algn="l">
              <a:lnSpc>
                <a:spcPts val="2200"/>
              </a:lnSpc>
              <a:buSzPct val="100000"/>
              <a:buChar char="•"/>
            </a:pPr>
            <a:r>
              <a:rPr lang="en-US" sz="1400" dirty="0">
                <a:solidFill>
                  <a:srgbClr val="383838"/>
                </a:solidFill>
                <a:latin typeface="DM Sans" pitchFamily="34" charset="0"/>
                <a:ea typeface="DM Sans" pitchFamily="34" charset="-122"/>
                <a:cs typeface="DM Sans" pitchFamily="34" charset="-120"/>
              </a:rPr>
              <a:t>How extremist ideologies develop and gain traction</a:t>
            </a:r>
            <a:endParaRPr lang="en-US" sz="1400" dirty="0"/>
          </a:p>
          <a:p>
            <a:pPr marL="342900" indent="-342900" algn="l">
              <a:lnSpc>
                <a:spcPts val="2200"/>
              </a:lnSpc>
              <a:buSzPct val="100000"/>
              <a:buChar char="•"/>
            </a:pPr>
            <a:r>
              <a:rPr lang="en-US" sz="1400" dirty="0">
                <a:solidFill>
                  <a:srgbClr val="383838"/>
                </a:solidFill>
                <a:latin typeface="DM Sans" pitchFamily="34" charset="0"/>
                <a:ea typeface="DM Sans" pitchFamily="34" charset="-122"/>
                <a:cs typeface="DM Sans" pitchFamily="34" charset="-120"/>
              </a:rPr>
              <a:t>The mechanisms of political propaganda</a:t>
            </a:r>
            <a:endParaRPr lang="en-US" sz="1400" dirty="0"/>
          </a:p>
          <a:p>
            <a:pPr marL="342900" indent="-342900" algn="l">
              <a:lnSpc>
                <a:spcPts val="2200"/>
              </a:lnSpc>
              <a:buSzPct val="100000"/>
              <a:buChar char="•"/>
            </a:pPr>
            <a:r>
              <a:rPr lang="en-US" sz="1400" dirty="0">
                <a:solidFill>
                  <a:srgbClr val="383838"/>
                </a:solidFill>
                <a:latin typeface="DM Sans" pitchFamily="34" charset="0"/>
                <a:ea typeface="DM Sans" pitchFamily="34" charset="-122"/>
                <a:cs typeface="DM Sans" pitchFamily="34" charset="-120"/>
              </a:rPr>
              <a:t>How personal grievances can fuel mass violence</a:t>
            </a:r>
            <a:endParaRPr lang="en-US" sz="1400" dirty="0"/>
          </a:p>
          <a:p>
            <a:pPr marL="342900" indent="-342900" algn="l">
              <a:lnSpc>
                <a:spcPts val="2200"/>
              </a:lnSpc>
              <a:buSzPct val="100000"/>
              <a:buChar char="•"/>
            </a:pPr>
            <a:r>
              <a:rPr lang="en-US" sz="1400" dirty="0">
                <a:solidFill>
                  <a:srgbClr val="383838"/>
                </a:solidFill>
                <a:latin typeface="DM Sans" pitchFamily="34" charset="0"/>
                <a:ea typeface="DM Sans" pitchFamily="34" charset="-122"/>
                <a:cs typeface="DM Sans" pitchFamily="34" charset="-120"/>
              </a:rPr>
              <a:t>The warning signs of authoritarian movements</a:t>
            </a:r>
            <a:endParaRPr lang="en-US" sz="1400" dirty="0"/>
          </a:p>
        </p:txBody>
      </p:sp>
      <p:sp>
        <p:nvSpPr>
          <p:cNvPr id="9" name="Text 7"/>
          <p:cNvSpPr/>
          <p:nvPr/>
        </p:nvSpPr>
        <p:spPr>
          <a:xfrm>
            <a:off x="729020" y="5705832"/>
            <a:ext cx="13172361" cy="839033"/>
          </a:xfrm>
          <a:prstGeom prst="rect">
            <a:avLst/>
          </a:prstGeom>
          <a:noFill/>
          <a:ln/>
        </p:spPr>
        <p:txBody>
          <a:bodyPr wrap="square" lIns="0" tIns="0" rIns="0" bIns="0" rtlCol="0" anchor="t"/>
          <a:lstStyle/>
          <a:p>
            <a:pPr marL="0" indent="0" algn="l">
              <a:lnSpc>
                <a:spcPts val="2200"/>
              </a:lnSpc>
              <a:buNone/>
            </a:pPr>
            <a:r>
              <a:rPr lang="en-US" sz="1400" dirty="0">
                <a:solidFill>
                  <a:srgbClr val="383838"/>
                </a:solidFill>
                <a:latin typeface="DM Sans" pitchFamily="34" charset="0"/>
                <a:ea typeface="DM Sans" pitchFamily="34" charset="-122"/>
                <a:cs typeface="DM Sans" pitchFamily="34" charset="-120"/>
              </a:rPr>
              <a:t>The book serves as a chilling example of how political writings can transition from abstract theory to devastating reality. Hitler didn't merely express opinions in </a:t>
            </a:r>
            <a:r>
              <a:rPr lang="en-US" sz="1400" i="1" dirty="0">
                <a:solidFill>
                  <a:srgbClr val="383838"/>
                </a:solidFill>
                <a:latin typeface="DM Sans" pitchFamily="34" charset="0"/>
                <a:ea typeface="DM Sans" pitchFamily="34" charset="-122"/>
                <a:cs typeface="DM Sans" pitchFamily="34" charset="-120"/>
              </a:rPr>
              <a:t>Mein Kampf</a:t>
            </a:r>
            <a:r>
              <a:rPr lang="en-US" sz="1400" dirty="0">
                <a:solidFill>
                  <a:srgbClr val="383838"/>
                </a:solidFill>
                <a:latin typeface="DM Sans" pitchFamily="34" charset="0"/>
                <a:ea typeface="DM Sans" pitchFamily="34" charset="-122"/>
                <a:cs typeface="DM Sans" pitchFamily="34" charset="-120"/>
              </a:rPr>
              <a:t>; he outlined specific policies and strategies that he intended to implement. When historians examine the book alongside subsequent events, they find remarkable consistency between Hitler's written plans and his actions as Chancellor.</a:t>
            </a:r>
            <a:endParaRPr lang="en-US" sz="1400" dirty="0"/>
          </a:p>
        </p:txBody>
      </p:sp>
      <p:sp>
        <p:nvSpPr>
          <p:cNvPr id="10" name="Text 8"/>
          <p:cNvSpPr/>
          <p:nvPr/>
        </p:nvSpPr>
        <p:spPr>
          <a:xfrm>
            <a:off x="729020" y="6733103"/>
            <a:ext cx="13172361" cy="839033"/>
          </a:xfrm>
          <a:prstGeom prst="rect">
            <a:avLst/>
          </a:prstGeom>
          <a:noFill/>
          <a:ln/>
        </p:spPr>
        <p:txBody>
          <a:bodyPr wrap="square" lIns="0" tIns="0" rIns="0" bIns="0" rtlCol="0" anchor="t"/>
          <a:lstStyle/>
          <a:p>
            <a:pPr marL="0" indent="0" algn="l">
              <a:lnSpc>
                <a:spcPts val="2200"/>
              </a:lnSpc>
              <a:buNone/>
            </a:pPr>
            <a:r>
              <a:rPr lang="en-US" sz="1400" dirty="0">
                <a:solidFill>
                  <a:srgbClr val="383838"/>
                </a:solidFill>
                <a:latin typeface="DM Sans" pitchFamily="34" charset="0"/>
                <a:ea typeface="DM Sans" pitchFamily="34" charset="-122"/>
                <a:cs typeface="DM Sans" pitchFamily="34" charset="-120"/>
              </a:rPr>
              <a:t>Furthermore, </a:t>
            </a:r>
            <a:r>
              <a:rPr lang="en-US" sz="1400" i="1" dirty="0">
                <a:solidFill>
                  <a:srgbClr val="383838"/>
                </a:solidFill>
                <a:latin typeface="DM Sans" pitchFamily="34" charset="0"/>
                <a:ea typeface="DM Sans" pitchFamily="34" charset="-122"/>
                <a:cs typeface="DM Sans" pitchFamily="34" charset="-120"/>
              </a:rPr>
              <a:t>Mein Kampf</a:t>
            </a:r>
            <a:r>
              <a:rPr lang="en-US" sz="1400" dirty="0">
                <a:solidFill>
                  <a:srgbClr val="383838"/>
                </a:solidFill>
                <a:latin typeface="DM Sans" pitchFamily="34" charset="0"/>
                <a:ea typeface="DM Sans" pitchFamily="34" charset="-122"/>
                <a:cs typeface="DM Sans" pitchFamily="34" charset="-120"/>
              </a:rPr>
              <a:t> provides insight into the psychological and rhetorical techniques used to mobilise populations towards extremist ideologies. Hitler's emphasis on simple, emotional messages, his use of scapegoating, and his construction of an "us versus them" worldview represent tactics that have been studied and documented in subsequent analyses of political extremism and propaganda.</a:t>
            </a:r>
            <a:endParaRPr lang="en-US" sz="1400" dirty="0"/>
          </a:p>
        </p:txBody>
      </p:sp>
      <p:sp>
        <p:nvSpPr>
          <p:cNvPr id="11" name="Rectangle 10">
            <a:extLst>
              <a:ext uri="{FF2B5EF4-FFF2-40B4-BE49-F238E27FC236}">
                <a16:creationId xmlns:a16="http://schemas.microsoft.com/office/drawing/2014/main" id="{5FD2C077-CF0D-CF7F-577D-9F4BF768F1E8}"/>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193012" y="1217890"/>
            <a:ext cx="5507831" cy="426244"/>
          </a:xfrm>
          <a:prstGeom prst="rect">
            <a:avLst/>
          </a:prstGeom>
          <a:noFill/>
          <a:ln/>
        </p:spPr>
        <p:txBody>
          <a:bodyPr wrap="none" lIns="0" tIns="0" rIns="0" bIns="0" rtlCol="0" anchor="t"/>
          <a:lstStyle/>
          <a:p>
            <a:pPr marL="0" indent="0" algn="l">
              <a:lnSpc>
                <a:spcPts val="3350"/>
              </a:lnSpc>
              <a:buNone/>
            </a:pPr>
            <a:r>
              <a:rPr lang="en-US" sz="2650" dirty="0">
                <a:solidFill>
                  <a:srgbClr val="020202"/>
                </a:solidFill>
                <a:latin typeface="PT Serif" pitchFamily="34" charset="0"/>
                <a:ea typeface="PT Serif" pitchFamily="34" charset="-122"/>
                <a:cs typeface="PT Serif" pitchFamily="34" charset="-120"/>
              </a:rPr>
              <a:t>Controversy and Publication History</a:t>
            </a:r>
            <a:endParaRPr lang="en-US" sz="2650" dirty="0"/>
          </a:p>
        </p:txBody>
      </p:sp>
      <p:sp>
        <p:nvSpPr>
          <p:cNvPr id="3" name="Shape 1"/>
          <p:cNvSpPr/>
          <p:nvPr/>
        </p:nvSpPr>
        <p:spPr>
          <a:xfrm>
            <a:off x="7307461" y="1814155"/>
            <a:ext cx="15240" cy="3974783"/>
          </a:xfrm>
          <a:prstGeom prst="roundRect">
            <a:avLst>
              <a:gd name="adj" fmla="val 127865"/>
            </a:avLst>
          </a:prstGeom>
          <a:solidFill>
            <a:srgbClr val="D8D4D4"/>
          </a:solidFill>
          <a:ln/>
        </p:spPr>
      </p:sp>
      <p:sp>
        <p:nvSpPr>
          <p:cNvPr id="4" name="Shape 2"/>
          <p:cNvSpPr/>
          <p:nvPr/>
        </p:nvSpPr>
        <p:spPr>
          <a:xfrm>
            <a:off x="2177772" y="1814155"/>
            <a:ext cx="5122069" cy="1211580"/>
          </a:xfrm>
          <a:prstGeom prst="roundRect">
            <a:avLst>
              <a:gd name="adj" fmla="val 1608"/>
            </a:avLst>
          </a:prstGeom>
          <a:solidFill>
            <a:srgbClr val="DD0000"/>
          </a:solidFill>
          <a:ln/>
        </p:spPr>
      </p:sp>
      <p:sp>
        <p:nvSpPr>
          <p:cNvPr id="5" name="Text 3"/>
          <p:cNvSpPr/>
          <p:nvPr/>
        </p:nvSpPr>
        <p:spPr>
          <a:xfrm>
            <a:off x="5464969" y="1944053"/>
            <a:ext cx="1704975" cy="213122"/>
          </a:xfrm>
          <a:prstGeom prst="rect">
            <a:avLst/>
          </a:prstGeom>
          <a:noFill/>
          <a:ln/>
        </p:spPr>
        <p:txBody>
          <a:bodyPr wrap="none" lIns="0" tIns="0" rIns="0" bIns="0" rtlCol="0" anchor="t"/>
          <a:lstStyle/>
          <a:p>
            <a:pPr marL="0" indent="0" algn="r">
              <a:lnSpc>
                <a:spcPts val="1650"/>
              </a:lnSpc>
              <a:buNone/>
            </a:pPr>
            <a:r>
              <a:rPr lang="en-US" sz="1300" dirty="0">
                <a:solidFill>
                  <a:srgbClr val="383838"/>
                </a:solidFill>
                <a:latin typeface="PT Serif" pitchFamily="34" charset="0"/>
                <a:ea typeface="PT Serif" pitchFamily="34" charset="-122"/>
                <a:cs typeface="PT Serif" pitchFamily="34" charset="-120"/>
              </a:rPr>
              <a:t>Post-War Restrictions</a:t>
            </a:r>
            <a:endParaRPr lang="en-US" sz="1300" dirty="0"/>
          </a:p>
        </p:txBody>
      </p:sp>
      <p:sp>
        <p:nvSpPr>
          <p:cNvPr id="6" name="Text 4"/>
          <p:cNvSpPr/>
          <p:nvPr/>
        </p:nvSpPr>
        <p:spPr>
          <a:xfrm>
            <a:off x="2307669" y="2208133"/>
            <a:ext cx="4862274" cy="687705"/>
          </a:xfrm>
          <a:prstGeom prst="rect">
            <a:avLst/>
          </a:prstGeom>
          <a:noFill/>
          <a:ln/>
        </p:spPr>
        <p:txBody>
          <a:bodyPr wrap="square" lIns="0" tIns="0" rIns="0" bIns="0" rtlCol="0" anchor="t"/>
          <a:lstStyle/>
          <a:p>
            <a:pPr marL="0" indent="0" algn="r">
              <a:lnSpc>
                <a:spcPts val="1350"/>
              </a:lnSpc>
              <a:buNone/>
            </a:pPr>
            <a:r>
              <a:rPr lang="en-US" sz="1000" dirty="0">
                <a:solidFill>
                  <a:srgbClr val="383838"/>
                </a:solidFill>
                <a:latin typeface="DM Sans" pitchFamily="34" charset="0"/>
                <a:ea typeface="DM Sans" pitchFamily="34" charset="-122"/>
                <a:cs typeface="DM Sans" pitchFamily="34" charset="-120"/>
              </a:rPr>
              <a:t>Following World War II, many countries imposed restrictions or outright bans on </a:t>
            </a:r>
            <a:r>
              <a:rPr lang="en-US" sz="1000" i="1" dirty="0">
                <a:solidFill>
                  <a:srgbClr val="383838"/>
                </a:solidFill>
                <a:latin typeface="DM Sans" pitchFamily="34" charset="0"/>
                <a:ea typeface="DM Sans" pitchFamily="34" charset="-122"/>
                <a:cs typeface="DM Sans" pitchFamily="34" charset="-120"/>
              </a:rPr>
              <a:t>Mein Kampf</a:t>
            </a:r>
            <a:r>
              <a:rPr lang="en-US" sz="1000" dirty="0">
                <a:solidFill>
                  <a:srgbClr val="383838"/>
                </a:solidFill>
                <a:latin typeface="DM Sans" pitchFamily="34" charset="0"/>
                <a:ea typeface="DM Sans" pitchFamily="34" charset="-122"/>
                <a:cs typeface="DM Sans" pitchFamily="34" charset="-120"/>
              </a:rPr>
              <a:t> due to its association with Nazism, anti-Semitism, and the Holocaust. These restrictions reflected concerns about preventing the spread of hate speech and extremist ideologies.</a:t>
            </a:r>
            <a:endParaRPr lang="en-US" sz="1000" dirty="0"/>
          </a:p>
        </p:txBody>
      </p:sp>
      <p:sp>
        <p:nvSpPr>
          <p:cNvPr id="7" name="Shape 5"/>
          <p:cNvSpPr/>
          <p:nvPr/>
        </p:nvSpPr>
        <p:spPr>
          <a:xfrm>
            <a:off x="7330321" y="3195757"/>
            <a:ext cx="5122188" cy="1211580"/>
          </a:xfrm>
          <a:prstGeom prst="rect">
            <a:avLst/>
          </a:prstGeom>
          <a:solidFill>
            <a:srgbClr val="C00000"/>
          </a:solidFill>
          <a:ln/>
        </p:spPr>
      </p:sp>
      <p:sp>
        <p:nvSpPr>
          <p:cNvPr id="8" name="Text 6"/>
          <p:cNvSpPr/>
          <p:nvPr/>
        </p:nvSpPr>
        <p:spPr>
          <a:xfrm>
            <a:off x="7460218" y="3325654"/>
            <a:ext cx="1718191" cy="213122"/>
          </a:xfrm>
          <a:prstGeom prst="rect">
            <a:avLst/>
          </a:prstGeom>
          <a:noFill/>
          <a:ln/>
        </p:spPr>
        <p:txBody>
          <a:bodyPr wrap="none" lIns="0" tIns="0" rIns="0" bIns="0" rtlCol="0" anchor="t"/>
          <a:lstStyle/>
          <a:p>
            <a:pPr marL="0" indent="0" algn="l">
              <a:lnSpc>
                <a:spcPts val="1650"/>
              </a:lnSpc>
              <a:buNone/>
            </a:pPr>
            <a:r>
              <a:rPr lang="en-US" sz="1300" dirty="0">
                <a:solidFill>
                  <a:srgbClr val="383838"/>
                </a:solidFill>
                <a:latin typeface="PT Serif" pitchFamily="34" charset="0"/>
                <a:ea typeface="PT Serif" pitchFamily="34" charset="-122"/>
                <a:cs typeface="PT Serif" pitchFamily="34" charset="-120"/>
              </a:rPr>
              <a:t>Controlled Publication</a:t>
            </a:r>
            <a:endParaRPr lang="en-US" sz="1300" dirty="0"/>
          </a:p>
        </p:txBody>
      </p:sp>
      <p:sp>
        <p:nvSpPr>
          <p:cNvPr id="9" name="Text 7"/>
          <p:cNvSpPr/>
          <p:nvPr/>
        </p:nvSpPr>
        <p:spPr>
          <a:xfrm>
            <a:off x="7460218" y="3589734"/>
            <a:ext cx="4862393" cy="687705"/>
          </a:xfrm>
          <a:prstGeom prst="rect">
            <a:avLst/>
          </a:prstGeom>
          <a:noFill/>
          <a:ln/>
        </p:spPr>
        <p:txBody>
          <a:bodyPr wrap="square" lIns="0" tIns="0" rIns="0" bIns="0" rtlCol="0" anchor="t"/>
          <a:lstStyle/>
          <a:p>
            <a:pPr marL="0" indent="0" algn="l">
              <a:lnSpc>
                <a:spcPts val="1350"/>
              </a:lnSpc>
              <a:buNone/>
            </a:pPr>
            <a:r>
              <a:rPr lang="en-US" sz="1000" dirty="0">
                <a:solidFill>
                  <a:srgbClr val="383838"/>
                </a:solidFill>
                <a:latin typeface="DM Sans" pitchFamily="34" charset="0"/>
                <a:ea typeface="DM Sans" pitchFamily="34" charset="-122"/>
                <a:cs typeface="DM Sans" pitchFamily="34" charset="-120"/>
              </a:rPr>
              <a:t>In recent decades, the approach to </a:t>
            </a:r>
            <a:r>
              <a:rPr lang="en-US" sz="1000" i="1" dirty="0">
                <a:solidFill>
                  <a:srgbClr val="383838"/>
                </a:solidFill>
                <a:latin typeface="DM Sans" pitchFamily="34" charset="0"/>
                <a:ea typeface="DM Sans" pitchFamily="34" charset="-122"/>
                <a:cs typeface="DM Sans" pitchFamily="34" charset="-120"/>
              </a:rPr>
              <a:t>Mein Kampf</a:t>
            </a:r>
            <a:r>
              <a:rPr lang="en-US" sz="1000" dirty="0">
                <a:solidFill>
                  <a:srgbClr val="383838"/>
                </a:solidFill>
                <a:latin typeface="DM Sans" pitchFamily="34" charset="0"/>
                <a:ea typeface="DM Sans" pitchFamily="34" charset="-122"/>
                <a:cs typeface="DM Sans" pitchFamily="34" charset="-120"/>
              </a:rPr>
              <a:t> has shifted from suppression to controlled publication with extensive historical context. Modern editions include scholarly commentary, footnotes explaining historical context, and warnings about the dangerous nature of the content.</a:t>
            </a:r>
            <a:endParaRPr lang="en-US" sz="1000" dirty="0"/>
          </a:p>
        </p:txBody>
      </p:sp>
      <p:sp>
        <p:nvSpPr>
          <p:cNvPr id="10" name="Shape 8"/>
          <p:cNvSpPr/>
          <p:nvPr/>
        </p:nvSpPr>
        <p:spPr>
          <a:xfrm>
            <a:off x="2177772" y="4577358"/>
            <a:ext cx="5122069" cy="1211580"/>
          </a:xfrm>
          <a:prstGeom prst="roundRect">
            <a:avLst>
              <a:gd name="adj" fmla="val 1608"/>
            </a:avLst>
          </a:prstGeom>
          <a:solidFill>
            <a:srgbClr val="DD0000"/>
          </a:solidFill>
          <a:ln/>
        </p:spPr>
      </p:sp>
      <p:sp>
        <p:nvSpPr>
          <p:cNvPr id="11" name="Text 9"/>
          <p:cNvSpPr/>
          <p:nvPr/>
        </p:nvSpPr>
        <p:spPr>
          <a:xfrm>
            <a:off x="5464969" y="4707255"/>
            <a:ext cx="1704975" cy="213122"/>
          </a:xfrm>
          <a:prstGeom prst="rect">
            <a:avLst/>
          </a:prstGeom>
          <a:noFill/>
          <a:ln/>
        </p:spPr>
        <p:txBody>
          <a:bodyPr wrap="none" lIns="0" tIns="0" rIns="0" bIns="0" rtlCol="0" anchor="t"/>
          <a:lstStyle/>
          <a:p>
            <a:pPr marL="0" indent="0" algn="r">
              <a:lnSpc>
                <a:spcPts val="1650"/>
              </a:lnSpc>
              <a:buNone/>
            </a:pPr>
            <a:r>
              <a:rPr lang="en-US" sz="1300" dirty="0">
                <a:solidFill>
                  <a:srgbClr val="383838"/>
                </a:solidFill>
                <a:latin typeface="PT Serif" pitchFamily="34" charset="0"/>
                <a:ea typeface="PT Serif" pitchFamily="34" charset="-122"/>
                <a:cs typeface="PT Serif" pitchFamily="34" charset="-120"/>
              </a:rPr>
              <a:t>Educational Purpose</a:t>
            </a:r>
            <a:endParaRPr lang="en-US" sz="1300" dirty="0"/>
          </a:p>
        </p:txBody>
      </p:sp>
      <p:sp>
        <p:nvSpPr>
          <p:cNvPr id="12" name="Text 10"/>
          <p:cNvSpPr/>
          <p:nvPr/>
        </p:nvSpPr>
        <p:spPr>
          <a:xfrm>
            <a:off x="2307669" y="4971336"/>
            <a:ext cx="4862274" cy="687705"/>
          </a:xfrm>
          <a:prstGeom prst="rect">
            <a:avLst/>
          </a:prstGeom>
          <a:noFill/>
          <a:ln/>
        </p:spPr>
        <p:txBody>
          <a:bodyPr wrap="square" lIns="0" tIns="0" rIns="0" bIns="0" rtlCol="0" anchor="t"/>
          <a:lstStyle/>
          <a:p>
            <a:pPr marL="0" indent="0" algn="r">
              <a:lnSpc>
                <a:spcPts val="1350"/>
              </a:lnSpc>
              <a:buNone/>
            </a:pPr>
            <a:r>
              <a:rPr lang="en-US" sz="1000" dirty="0">
                <a:solidFill>
                  <a:srgbClr val="383838"/>
                </a:solidFill>
                <a:latin typeface="DM Sans" pitchFamily="34" charset="0"/>
                <a:ea typeface="DM Sans" pitchFamily="34" charset="-122"/>
                <a:cs typeface="DM Sans" pitchFamily="34" charset="-120"/>
              </a:rPr>
              <a:t>Today, the book is primarily published with historical commentary and critical analysis. This approach acknowledges the document's historical importance whilst providing readers with the tools to understand and critically evaluate its dangerous content.</a:t>
            </a:r>
            <a:endParaRPr lang="en-US" sz="1000" dirty="0"/>
          </a:p>
        </p:txBody>
      </p:sp>
      <p:sp>
        <p:nvSpPr>
          <p:cNvPr id="13" name="Text 11"/>
          <p:cNvSpPr/>
          <p:nvPr/>
        </p:nvSpPr>
        <p:spPr>
          <a:xfrm>
            <a:off x="2193012" y="5884545"/>
            <a:ext cx="10244257" cy="515779"/>
          </a:xfrm>
          <a:prstGeom prst="rect">
            <a:avLst/>
          </a:prstGeom>
          <a:noFill/>
          <a:ln/>
        </p:spPr>
        <p:txBody>
          <a:bodyPr wrap="square" lIns="0" tIns="0" rIns="0" bIns="0" rtlCol="0" anchor="t"/>
          <a:lstStyle/>
          <a:p>
            <a:pPr marL="0" indent="0" algn="l">
              <a:lnSpc>
                <a:spcPts val="1350"/>
              </a:lnSpc>
              <a:buNone/>
            </a:pPr>
            <a:r>
              <a:rPr lang="en-US" sz="1000" dirty="0">
                <a:solidFill>
                  <a:srgbClr val="383838"/>
                </a:solidFill>
                <a:latin typeface="DM Sans" pitchFamily="34" charset="0"/>
                <a:ea typeface="DM Sans" pitchFamily="34" charset="-122"/>
                <a:cs typeface="DM Sans" pitchFamily="34" charset="-120"/>
              </a:rPr>
              <a:t>The controversy surrounding </a:t>
            </a:r>
            <a:r>
              <a:rPr lang="en-US" sz="1000" i="1" dirty="0">
                <a:solidFill>
                  <a:srgbClr val="383838"/>
                </a:solidFill>
                <a:latin typeface="DM Sans" pitchFamily="34" charset="0"/>
                <a:ea typeface="DM Sans" pitchFamily="34" charset="-122"/>
                <a:cs typeface="DM Sans" pitchFamily="34" charset="-120"/>
              </a:rPr>
              <a:t>Mein Kampf</a:t>
            </a:r>
            <a:r>
              <a:rPr lang="en-US" sz="1000" dirty="0">
                <a:solidFill>
                  <a:srgbClr val="383838"/>
                </a:solidFill>
                <a:latin typeface="DM Sans" pitchFamily="34" charset="0"/>
                <a:ea typeface="DM Sans" pitchFamily="34" charset="-122"/>
                <a:cs typeface="DM Sans" pitchFamily="34" charset="-120"/>
              </a:rPr>
              <a:t> raises complex questions about freedom of speech, historical preservation, and the prevention of hate speech. Some argue that banning the book only increases its appeal to extremist groups and prevents scholars from studying it. Others contend that the book's hateful content should never be disseminated, regardless of academic interest.</a:t>
            </a:r>
            <a:endParaRPr lang="en-US" sz="1000" dirty="0"/>
          </a:p>
        </p:txBody>
      </p:sp>
      <p:sp>
        <p:nvSpPr>
          <p:cNvPr id="14" name="Text 12"/>
          <p:cNvSpPr/>
          <p:nvPr/>
        </p:nvSpPr>
        <p:spPr>
          <a:xfrm>
            <a:off x="2193012" y="6495931"/>
            <a:ext cx="10244257" cy="515779"/>
          </a:xfrm>
          <a:prstGeom prst="rect">
            <a:avLst/>
          </a:prstGeom>
          <a:noFill/>
          <a:ln/>
        </p:spPr>
        <p:txBody>
          <a:bodyPr wrap="square" lIns="0" tIns="0" rIns="0" bIns="0" rtlCol="0" anchor="t"/>
          <a:lstStyle/>
          <a:p>
            <a:pPr marL="0" indent="0" algn="l">
              <a:lnSpc>
                <a:spcPts val="1350"/>
              </a:lnSpc>
              <a:buNone/>
            </a:pPr>
            <a:r>
              <a:rPr lang="en-US" sz="1000" dirty="0">
                <a:solidFill>
                  <a:srgbClr val="383838"/>
                </a:solidFill>
                <a:latin typeface="DM Sans" pitchFamily="34" charset="0"/>
                <a:ea typeface="DM Sans" pitchFamily="34" charset="-122"/>
                <a:cs typeface="DM Sans" pitchFamily="34" charset="-120"/>
              </a:rPr>
              <a:t>The current compromise—publishing annotated editions with extensive historical context—represents an attempt to balance these concerns. By framing the text with critical analysis, publishers and scholars aim to educate readers about the dangers of extremist ideology whilst preserving the document for historical study. This approach recognises that understanding how ideologies like Nazism develop and spread is essential for preventing similar tragedies in the future.</a:t>
            </a:r>
            <a:endParaRPr lang="en-US" sz="1000" dirty="0"/>
          </a:p>
        </p:txBody>
      </p:sp>
      <p:sp>
        <p:nvSpPr>
          <p:cNvPr id="15" name="Rectangle 14">
            <a:extLst>
              <a:ext uri="{FF2B5EF4-FFF2-40B4-BE49-F238E27FC236}">
                <a16:creationId xmlns:a16="http://schemas.microsoft.com/office/drawing/2014/main" id="{F5F3E6D4-5F42-CC21-670C-07795CD612BF}"/>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4260" y="1052632"/>
            <a:ext cx="10978396" cy="610433"/>
          </a:xfrm>
          <a:prstGeom prst="rect">
            <a:avLst/>
          </a:prstGeom>
          <a:noFill/>
          <a:ln/>
        </p:spPr>
        <p:txBody>
          <a:bodyPr wrap="none" lIns="0" tIns="0" rIns="0" bIns="0" rtlCol="0" anchor="t"/>
          <a:lstStyle/>
          <a:p>
            <a:pPr marL="0" indent="0" algn="l">
              <a:lnSpc>
                <a:spcPts val="4800"/>
              </a:lnSpc>
              <a:buNone/>
            </a:pPr>
            <a:r>
              <a:rPr lang="en-US" sz="3800" dirty="0">
                <a:solidFill>
                  <a:srgbClr val="020202"/>
                </a:solidFill>
                <a:latin typeface="PT Serif" pitchFamily="34" charset="0"/>
                <a:ea typeface="PT Serif" pitchFamily="34" charset="-122"/>
                <a:cs typeface="PT Serif" pitchFamily="34" charset="-120"/>
              </a:rPr>
              <a:t>Conclusion: A Historical Document, Not Just Literature</a:t>
            </a:r>
            <a:endParaRPr lang="en-US" sz="3800" dirty="0"/>
          </a:p>
        </p:txBody>
      </p:sp>
      <p:sp>
        <p:nvSpPr>
          <p:cNvPr id="3" name="Text 1"/>
          <p:cNvSpPr/>
          <p:nvPr/>
        </p:nvSpPr>
        <p:spPr>
          <a:xfrm>
            <a:off x="744260" y="2011918"/>
            <a:ext cx="13141881" cy="576739"/>
          </a:xfrm>
          <a:prstGeom prst="rect">
            <a:avLst/>
          </a:prstGeom>
          <a:noFill/>
          <a:ln/>
        </p:spPr>
        <p:txBody>
          <a:bodyPr wrap="square" lIns="0" tIns="0" rIns="0" bIns="0" rtlCol="0" anchor="t"/>
          <a:lstStyle/>
          <a:p>
            <a:pPr marL="0" indent="0" algn="l">
              <a:lnSpc>
                <a:spcPts val="2250"/>
              </a:lnSpc>
              <a:buNone/>
            </a:pPr>
            <a:r>
              <a:rPr lang="en-US" sz="1450" dirty="0">
                <a:solidFill>
                  <a:srgbClr val="383838"/>
                </a:solidFill>
                <a:latin typeface="DM Sans" pitchFamily="34" charset="0"/>
                <a:ea typeface="DM Sans" pitchFamily="34" charset="-122"/>
                <a:cs typeface="DM Sans" pitchFamily="34" charset="-120"/>
              </a:rPr>
              <a:t>In conclusion, </a:t>
            </a:r>
            <a:r>
              <a:rPr lang="en-US" sz="1450" i="1" dirty="0">
                <a:solidFill>
                  <a:srgbClr val="383838"/>
                </a:solidFill>
                <a:latin typeface="DM Sans" pitchFamily="34" charset="0"/>
                <a:ea typeface="DM Sans" pitchFamily="34" charset="-122"/>
                <a:cs typeface="DM Sans" pitchFamily="34" charset="-120"/>
              </a:rPr>
              <a:t>Mein Kampf</a:t>
            </a:r>
            <a:r>
              <a:rPr lang="en-US" sz="1450" dirty="0">
                <a:solidFill>
                  <a:srgbClr val="383838"/>
                </a:solidFill>
                <a:latin typeface="DM Sans" pitchFamily="34" charset="0"/>
                <a:ea typeface="DM Sans" pitchFamily="34" charset="-122"/>
                <a:cs typeface="DM Sans" pitchFamily="34" charset="-120"/>
              </a:rPr>
              <a:t> is not a book that people read for entertainment, literary enjoyment, or intellectual stimulation in the conventional sense. Rather, it serves as a historical and political document of immense significance, albeit one containing deeply troubling and dangerous content.</a:t>
            </a:r>
            <a:endParaRPr lang="en-US" sz="1450" dirty="0"/>
          </a:p>
        </p:txBody>
      </p:sp>
      <p:sp>
        <p:nvSpPr>
          <p:cNvPr id="4" name="Text 2"/>
          <p:cNvSpPr/>
          <p:nvPr/>
        </p:nvSpPr>
        <p:spPr>
          <a:xfrm>
            <a:off x="744260" y="2784872"/>
            <a:ext cx="13141881" cy="865108"/>
          </a:xfrm>
          <a:prstGeom prst="rect">
            <a:avLst/>
          </a:prstGeom>
          <a:noFill/>
          <a:ln/>
        </p:spPr>
        <p:txBody>
          <a:bodyPr wrap="square" lIns="0" tIns="0" rIns="0" bIns="0" rtlCol="0" anchor="t"/>
          <a:lstStyle/>
          <a:p>
            <a:pPr marL="0" indent="0" algn="l">
              <a:lnSpc>
                <a:spcPts val="2250"/>
              </a:lnSpc>
              <a:buNone/>
            </a:pPr>
            <a:r>
              <a:rPr lang="en-US" sz="1450" dirty="0">
                <a:solidFill>
                  <a:srgbClr val="383838"/>
                </a:solidFill>
                <a:latin typeface="DM Sans" pitchFamily="34" charset="0"/>
                <a:ea typeface="DM Sans" pitchFamily="34" charset="-122"/>
                <a:cs typeface="DM Sans" pitchFamily="34" charset="-120"/>
              </a:rPr>
              <a:t>The work provides crucial insight into the mindset of Adolf Hitler and documents the development of the ideological framework that would later cause unprecedented human suffering. By studying </a:t>
            </a:r>
            <a:r>
              <a:rPr lang="en-US" sz="1450" i="1" dirty="0">
                <a:solidFill>
                  <a:srgbClr val="383838"/>
                </a:solidFill>
                <a:latin typeface="DM Sans" pitchFamily="34" charset="0"/>
                <a:ea typeface="DM Sans" pitchFamily="34" charset="-122"/>
                <a:cs typeface="DM Sans" pitchFamily="34" charset="-120"/>
              </a:rPr>
              <a:t>Mein Kampf</a:t>
            </a:r>
            <a:r>
              <a:rPr lang="en-US" sz="1450" dirty="0">
                <a:solidFill>
                  <a:srgbClr val="383838"/>
                </a:solidFill>
                <a:latin typeface="DM Sans" pitchFamily="34" charset="0"/>
                <a:ea typeface="DM Sans" pitchFamily="34" charset="-122"/>
                <a:cs typeface="DM Sans" pitchFamily="34" charset="-120"/>
              </a:rPr>
              <a:t> with appropriate historical context and critical analysis, readers can better understand how dangerous political ideologies develop, how propaganda operates, and how personal grievances can be transformed into instruments of mass violence.</a:t>
            </a:r>
            <a:endParaRPr lang="en-US" sz="1450" dirty="0"/>
          </a:p>
        </p:txBody>
      </p:sp>
      <p:sp>
        <p:nvSpPr>
          <p:cNvPr id="5" name="Shape 3"/>
          <p:cNvSpPr/>
          <p:nvPr/>
        </p:nvSpPr>
        <p:spPr>
          <a:xfrm>
            <a:off x="744260" y="3846195"/>
            <a:ext cx="4264343" cy="1980962"/>
          </a:xfrm>
          <a:prstGeom prst="roundRect">
            <a:avLst>
              <a:gd name="adj" fmla="val 1409"/>
            </a:avLst>
          </a:prstGeom>
          <a:solidFill>
            <a:srgbClr val="FFFFFF"/>
          </a:solidFill>
          <a:ln w="22860">
            <a:solidFill>
              <a:srgbClr val="D8D4D4"/>
            </a:solidFill>
            <a:prstDash val="solid"/>
          </a:ln>
        </p:spPr>
      </p:sp>
      <p:sp>
        <p:nvSpPr>
          <p:cNvPr id="6" name="Text 4"/>
          <p:cNvSpPr/>
          <p:nvPr/>
        </p:nvSpPr>
        <p:spPr>
          <a:xfrm>
            <a:off x="953095" y="4055031"/>
            <a:ext cx="2442091" cy="305157"/>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Historical Value</a:t>
            </a:r>
            <a:endParaRPr lang="en-US" sz="1900" dirty="0"/>
          </a:p>
        </p:txBody>
      </p:sp>
      <p:sp>
        <p:nvSpPr>
          <p:cNvPr id="7" name="Text 5"/>
          <p:cNvSpPr/>
          <p:nvPr/>
        </p:nvSpPr>
        <p:spPr>
          <a:xfrm>
            <a:off x="953095" y="4464844"/>
            <a:ext cx="3846671" cy="1153478"/>
          </a:xfrm>
          <a:prstGeom prst="rect">
            <a:avLst/>
          </a:prstGeom>
          <a:noFill/>
          <a:ln/>
        </p:spPr>
        <p:txBody>
          <a:bodyPr wrap="square" lIns="0" tIns="0" rIns="0" bIns="0" rtlCol="0" anchor="t"/>
          <a:lstStyle/>
          <a:p>
            <a:pPr marL="0" indent="0" algn="l">
              <a:lnSpc>
                <a:spcPts val="2250"/>
              </a:lnSpc>
              <a:buNone/>
            </a:pPr>
            <a:r>
              <a:rPr lang="en-US" sz="1450" dirty="0">
                <a:solidFill>
                  <a:srgbClr val="383838"/>
                </a:solidFill>
                <a:latin typeface="DM Sans" pitchFamily="34" charset="0"/>
                <a:ea typeface="DM Sans" pitchFamily="34" charset="-122"/>
                <a:cs typeface="DM Sans" pitchFamily="34" charset="-120"/>
              </a:rPr>
              <a:t>As a primary source document, </a:t>
            </a:r>
            <a:r>
              <a:rPr lang="en-US" sz="1450" i="1" dirty="0">
                <a:solidFill>
                  <a:srgbClr val="383838"/>
                </a:solidFill>
                <a:latin typeface="DM Sans" pitchFamily="34" charset="0"/>
                <a:ea typeface="DM Sans" pitchFamily="34" charset="-122"/>
                <a:cs typeface="DM Sans" pitchFamily="34" charset="-120"/>
              </a:rPr>
              <a:t>Mein Kampf</a:t>
            </a:r>
            <a:r>
              <a:rPr lang="en-US" sz="1450" dirty="0">
                <a:solidFill>
                  <a:srgbClr val="383838"/>
                </a:solidFill>
                <a:latin typeface="DM Sans" pitchFamily="34" charset="0"/>
                <a:ea typeface="DM Sans" pitchFamily="34" charset="-122"/>
                <a:cs typeface="DM Sans" pitchFamily="34" charset="-120"/>
              </a:rPr>
              <a:t> offers direct access to Hitler's worldview and ideological framework before he attained power.</a:t>
            </a:r>
            <a:endParaRPr lang="en-US" sz="1450" dirty="0"/>
          </a:p>
        </p:txBody>
      </p:sp>
      <p:sp>
        <p:nvSpPr>
          <p:cNvPr id="8" name="Shape 6"/>
          <p:cNvSpPr/>
          <p:nvPr/>
        </p:nvSpPr>
        <p:spPr>
          <a:xfrm>
            <a:off x="5183029" y="3846195"/>
            <a:ext cx="4264343" cy="1980962"/>
          </a:xfrm>
          <a:prstGeom prst="roundRect">
            <a:avLst>
              <a:gd name="adj" fmla="val 1409"/>
            </a:avLst>
          </a:prstGeom>
          <a:solidFill>
            <a:srgbClr val="FFFFFF"/>
          </a:solidFill>
          <a:ln w="22860">
            <a:solidFill>
              <a:srgbClr val="D8D4D4"/>
            </a:solidFill>
            <a:prstDash val="solid"/>
          </a:ln>
        </p:spPr>
      </p:sp>
      <p:sp>
        <p:nvSpPr>
          <p:cNvPr id="9" name="Text 7"/>
          <p:cNvSpPr/>
          <p:nvPr/>
        </p:nvSpPr>
        <p:spPr>
          <a:xfrm>
            <a:off x="5391864" y="4055031"/>
            <a:ext cx="2442091" cy="305157"/>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Educational Tool</a:t>
            </a:r>
            <a:endParaRPr lang="en-US" sz="1900" dirty="0"/>
          </a:p>
        </p:txBody>
      </p:sp>
      <p:sp>
        <p:nvSpPr>
          <p:cNvPr id="10" name="Text 8"/>
          <p:cNvSpPr/>
          <p:nvPr/>
        </p:nvSpPr>
        <p:spPr>
          <a:xfrm>
            <a:off x="5391864" y="4464844"/>
            <a:ext cx="3846671" cy="1153478"/>
          </a:xfrm>
          <a:prstGeom prst="rect">
            <a:avLst/>
          </a:prstGeom>
          <a:noFill/>
          <a:ln/>
        </p:spPr>
        <p:txBody>
          <a:bodyPr wrap="square" lIns="0" tIns="0" rIns="0" bIns="0" rtlCol="0" anchor="t"/>
          <a:lstStyle/>
          <a:p>
            <a:pPr marL="0" indent="0" algn="l">
              <a:lnSpc>
                <a:spcPts val="2250"/>
              </a:lnSpc>
              <a:buNone/>
            </a:pPr>
            <a:r>
              <a:rPr lang="en-US" sz="1450" dirty="0">
                <a:solidFill>
                  <a:srgbClr val="383838"/>
                </a:solidFill>
                <a:latin typeface="DM Sans" pitchFamily="34" charset="0"/>
                <a:ea typeface="DM Sans" pitchFamily="34" charset="-122"/>
                <a:cs typeface="DM Sans" pitchFamily="34" charset="-120"/>
              </a:rPr>
              <a:t>When properly contextualised with scholarly commentary, the book serves as a warning about the dangers of extremism, propaganda, and authoritarianism.</a:t>
            </a:r>
            <a:endParaRPr lang="en-US" sz="1450" dirty="0"/>
          </a:p>
        </p:txBody>
      </p:sp>
      <p:sp>
        <p:nvSpPr>
          <p:cNvPr id="11" name="Shape 9"/>
          <p:cNvSpPr/>
          <p:nvPr/>
        </p:nvSpPr>
        <p:spPr>
          <a:xfrm>
            <a:off x="9621798" y="3846195"/>
            <a:ext cx="4264343" cy="1980962"/>
          </a:xfrm>
          <a:prstGeom prst="roundRect">
            <a:avLst>
              <a:gd name="adj" fmla="val 1409"/>
            </a:avLst>
          </a:prstGeom>
          <a:solidFill>
            <a:srgbClr val="FFFFFF"/>
          </a:solidFill>
          <a:ln w="22860">
            <a:solidFill>
              <a:srgbClr val="D8D4D4"/>
            </a:solidFill>
            <a:prstDash val="solid"/>
          </a:ln>
        </p:spPr>
      </p:sp>
      <p:sp>
        <p:nvSpPr>
          <p:cNvPr id="12" name="Text 10"/>
          <p:cNvSpPr/>
          <p:nvPr/>
        </p:nvSpPr>
        <p:spPr>
          <a:xfrm>
            <a:off x="9830633" y="4055031"/>
            <a:ext cx="2466023" cy="305157"/>
          </a:xfrm>
          <a:prstGeom prst="rect">
            <a:avLst/>
          </a:prstGeom>
          <a:noFill/>
          <a:ln/>
        </p:spPr>
        <p:txBody>
          <a:bodyPr wrap="none" lIns="0" tIns="0" rIns="0" bIns="0" rtlCol="0" anchor="t"/>
          <a:lstStyle/>
          <a:p>
            <a:pPr marL="0" indent="0" algn="l">
              <a:lnSpc>
                <a:spcPts val="2400"/>
              </a:lnSpc>
              <a:buNone/>
            </a:pPr>
            <a:r>
              <a:rPr lang="en-US" sz="1900" dirty="0">
                <a:solidFill>
                  <a:srgbClr val="383838"/>
                </a:solidFill>
                <a:latin typeface="PT Serif" pitchFamily="34" charset="0"/>
                <a:ea typeface="PT Serif" pitchFamily="34" charset="-122"/>
                <a:cs typeface="PT Serif" pitchFamily="34" charset="-120"/>
              </a:rPr>
              <a:t>Critical Understanding</a:t>
            </a:r>
            <a:endParaRPr lang="en-US" sz="1900" dirty="0"/>
          </a:p>
        </p:txBody>
      </p:sp>
      <p:sp>
        <p:nvSpPr>
          <p:cNvPr id="13" name="Text 11"/>
          <p:cNvSpPr/>
          <p:nvPr/>
        </p:nvSpPr>
        <p:spPr>
          <a:xfrm>
            <a:off x="9830633" y="4464844"/>
            <a:ext cx="3846671" cy="1153478"/>
          </a:xfrm>
          <a:prstGeom prst="rect">
            <a:avLst/>
          </a:prstGeom>
          <a:noFill/>
          <a:ln/>
        </p:spPr>
        <p:txBody>
          <a:bodyPr wrap="square" lIns="0" tIns="0" rIns="0" bIns="0" rtlCol="0" anchor="t"/>
          <a:lstStyle/>
          <a:p>
            <a:pPr marL="0" indent="0" algn="l">
              <a:lnSpc>
                <a:spcPts val="2250"/>
              </a:lnSpc>
              <a:buNone/>
            </a:pPr>
            <a:r>
              <a:rPr lang="en-US" sz="1450" dirty="0">
                <a:solidFill>
                  <a:srgbClr val="383838"/>
                </a:solidFill>
                <a:latin typeface="DM Sans" pitchFamily="34" charset="0"/>
                <a:ea typeface="DM Sans" pitchFamily="34" charset="-122"/>
                <a:cs typeface="DM Sans" pitchFamily="34" charset="-120"/>
              </a:rPr>
              <a:t>The work helps readers understand how seemingly abstract political theories can translate into devastating real-world consequences.</a:t>
            </a:r>
            <a:endParaRPr lang="en-US" sz="1450" dirty="0"/>
          </a:p>
        </p:txBody>
      </p:sp>
      <p:sp>
        <p:nvSpPr>
          <p:cNvPr id="14" name="Text 12"/>
          <p:cNvSpPr/>
          <p:nvPr/>
        </p:nvSpPr>
        <p:spPr>
          <a:xfrm>
            <a:off x="744260" y="6023372"/>
            <a:ext cx="13141881" cy="1153478"/>
          </a:xfrm>
          <a:prstGeom prst="rect">
            <a:avLst/>
          </a:prstGeom>
          <a:noFill/>
          <a:ln/>
        </p:spPr>
        <p:txBody>
          <a:bodyPr wrap="square" lIns="0" tIns="0" rIns="0" bIns="0" rtlCol="0" anchor="t"/>
          <a:lstStyle/>
          <a:p>
            <a:pPr marL="0" indent="0" algn="l">
              <a:lnSpc>
                <a:spcPts val="2250"/>
              </a:lnSpc>
              <a:buNone/>
            </a:pPr>
            <a:r>
              <a:rPr lang="en-US" sz="1450" dirty="0">
                <a:solidFill>
                  <a:srgbClr val="383838"/>
                </a:solidFill>
                <a:latin typeface="DM Sans" pitchFamily="34" charset="0"/>
                <a:ea typeface="DM Sans" pitchFamily="34" charset="-122"/>
                <a:cs typeface="DM Sans" pitchFamily="34" charset="-120"/>
              </a:rPr>
              <a:t>The book ultimately serves as an important reminder of the consequences of hatred, extremism, and the misuse of political power. By studying such documents with appropriate critical frameworks, society can better recognise and resist similar ideologies when they emerge in contemporary contexts. The lessons of </a:t>
            </a:r>
            <a:r>
              <a:rPr lang="en-US" sz="1450" i="1" dirty="0">
                <a:solidFill>
                  <a:srgbClr val="383838"/>
                </a:solidFill>
                <a:latin typeface="DM Sans" pitchFamily="34" charset="0"/>
                <a:ea typeface="DM Sans" pitchFamily="34" charset="-122"/>
                <a:cs typeface="DM Sans" pitchFamily="34" charset="-120"/>
              </a:rPr>
              <a:t>Mein Kampf</a:t>
            </a:r>
            <a:r>
              <a:rPr lang="en-US" sz="1450" dirty="0">
                <a:solidFill>
                  <a:srgbClr val="383838"/>
                </a:solidFill>
                <a:latin typeface="DM Sans" pitchFamily="34" charset="0"/>
                <a:ea typeface="DM Sans" pitchFamily="34" charset="-122"/>
                <a:cs typeface="DM Sans" pitchFamily="34" charset="-120"/>
              </a:rPr>
              <a:t> remain relevant today, particularly in understanding how propaganda, scapegoating, and authoritarian leadership can combine to produce catastrophic results.</a:t>
            </a:r>
            <a:endParaRPr lang="en-US" sz="1450" dirty="0"/>
          </a:p>
        </p:txBody>
      </p:sp>
      <p:sp>
        <p:nvSpPr>
          <p:cNvPr id="15" name="Rectangle 14">
            <a:extLst>
              <a:ext uri="{FF2B5EF4-FFF2-40B4-BE49-F238E27FC236}">
                <a16:creationId xmlns:a16="http://schemas.microsoft.com/office/drawing/2014/main" id="{033342EA-F1CD-400E-7818-BF10608B8EFB}"/>
              </a:ext>
            </a:extLst>
          </p:cNvPr>
          <p:cNvSpPr/>
          <p:nvPr/>
        </p:nvSpPr>
        <p:spPr>
          <a:xfrm>
            <a:off x="12735613" y="7569724"/>
            <a:ext cx="1809946" cy="556181"/>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1939</Words>
  <Application>Microsoft Office PowerPoint</Application>
  <PresentationFormat>Custom</PresentationFormat>
  <Paragraphs>91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PT Serif</vt:lpstr>
      <vt:lpstr>Arial</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Mohit srivastava</cp:lastModifiedBy>
  <cp:revision>2</cp:revision>
  <dcterms:created xsi:type="dcterms:W3CDTF">2026-03-24T23:33:28Z</dcterms:created>
  <dcterms:modified xsi:type="dcterms:W3CDTF">2026-03-24T23:41:35Z</dcterms:modified>
</cp:coreProperties>
</file>